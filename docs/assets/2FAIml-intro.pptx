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1" r:id="rId1"/>
  </p:sldMasterIdLst>
  <p:notesMasterIdLst>
    <p:notesMasterId r:id="rId13"/>
  </p:notesMasterIdLst>
  <p:handoutMasterIdLst>
    <p:handoutMasterId r:id="rId14"/>
  </p:handoutMasterIdLst>
  <p:sldIdLst>
    <p:sldId id="885" r:id="rId2"/>
    <p:sldId id="256" r:id="rId3"/>
    <p:sldId id="826" r:id="rId4"/>
    <p:sldId id="785" r:id="rId5"/>
    <p:sldId id="844" r:id="rId6"/>
    <p:sldId id="884" r:id="rId7"/>
    <p:sldId id="820" r:id="rId8"/>
    <p:sldId id="879" r:id="rId9"/>
    <p:sldId id="812" r:id="rId10"/>
    <p:sldId id="857" r:id="rId11"/>
    <p:sldId id="886" r:id="rId12"/>
  </p:sldIdLst>
  <p:sldSz cx="12192000" cy="6858000"/>
  <p:notesSz cx="6946900" cy="93218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5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9900"/>
    <a:srgbClr val="00863D"/>
    <a:srgbClr val="0000FF"/>
    <a:srgbClr val="CCECFF"/>
    <a:srgbClr val="FF0066"/>
    <a:srgbClr val="FFCC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1E50E-B713-49CE-B62B-BDFC56296555}" v="2" dt="2026-01-26T15:00:40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4" autoAdjust="0"/>
    <p:restoredTop sz="87688" autoAdjust="0"/>
  </p:normalViewPr>
  <p:slideViewPr>
    <p:cSldViewPr>
      <p:cViewPr varScale="1">
        <p:scale>
          <a:sx n="90" d="100"/>
          <a:sy n="90" d="100"/>
        </p:scale>
        <p:origin x="555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54" y="-96"/>
      </p:cViewPr>
      <p:guideLst>
        <p:guide orient="horz" pos="2935"/>
        <p:guide pos="218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g Qu (staff)" userId="80cc6170-8702-4540-83cc-175e4c32e16c" providerId="ADAL" clId="{DFF0C620-4DFC-42A4-835B-98C0FCD9E0E2}"/>
    <pc:docChg chg="custSel modSld">
      <pc:chgData name="Rong Qu (staff)" userId="80cc6170-8702-4540-83cc-175e4c32e16c" providerId="ADAL" clId="{DFF0C620-4DFC-42A4-835B-98C0FCD9E0E2}" dt="2026-01-23T13:04:08.329" v="272" actId="20577"/>
      <pc:docMkLst>
        <pc:docMk/>
      </pc:docMkLst>
      <pc:sldChg chg="modSp mod">
        <pc:chgData name="Rong Qu (staff)" userId="80cc6170-8702-4540-83cc-175e4c32e16c" providerId="ADAL" clId="{DFF0C620-4DFC-42A4-835B-98C0FCD9E0E2}" dt="2026-01-23T12:14:07.346" v="27" actId="6549"/>
        <pc:sldMkLst>
          <pc:docMk/>
          <pc:sldMk cId="0" sldId="256"/>
        </pc:sldMkLst>
        <pc:spChg chg="mod">
          <ac:chgData name="Rong Qu (staff)" userId="80cc6170-8702-4540-83cc-175e4c32e16c" providerId="ADAL" clId="{DFF0C620-4DFC-42A4-835B-98C0FCD9E0E2}" dt="2026-01-23T12:14:07.346" v="27" actId="6549"/>
          <ac:spMkLst>
            <pc:docMk/>
            <pc:sldMk cId="0" sldId="256"/>
            <ac:spMk id="14338" creationId="{F17B863A-9DFB-877B-62D4-CD36F6A33B59}"/>
          </ac:spMkLst>
        </pc:spChg>
      </pc:sldChg>
      <pc:sldChg chg="modSp mod modNotesTx">
        <pc:chgData name="Rong Qu (staff)" userId="80cc6170-8702-4540-83cc-175e4c32e16c" providerId="ADAL" clId="{DFF0C620-4DFC-42A4-835B-98C0FCD9E0E2}" dt="2026-01-23T13:01:35.650" v="251" actId="5793"/>
        <pc:sldMkLst>
          <pc:docMk/>
          <pc:sldMk cId="0" sldId="785"/>
        </pc:sldMkLst>
        <pc:spChg chg="mod">
          <ac:chgData name="Rong Qu (staff)" userId="80cc6170-8702-4540-83cc-175e4c32e16c" providerId="ADAL" clId="{DFF0C620-4DFC-42A4-835B-98C0FCD9E0E2}" dt="2026-01-23T12:29:35.250" v="56" actId="14100"/>
          <ac:spMkLst>
            <pc:docMk/>
            <pc:sldMk cId="0" sldId="785"/>
            <ac:spMk id="3" creationId="{4E8E7AFD-02DE-D795-9811-8F96FB6E8D65}"/>
          </ac:spMkLst>
        </pc:spChg>
        <pc:spChg chg="mod">
          <ac:chgData name="Rong Qu (staff)" userId="80cc6170-8702-4540-83cc-175e4c32e16c" providerId="ADAL" clId="{DFF0C620-4DFC-42A4-835B-98C0FCD9E0E2}" dt="2026-01-23T12:29:10.312" v="52" actId="6549"/>
          <ac:spMkLst>
            <pc:docMk/>
            <pc:sldMk cId="0" sldId="785"/>
            <ac:spMk id="275459" creationId="{DAB1AE47-E2C1-C811-5364-99BE9F4B34DA}"/>
          </ac:spMkLst>
        </pc:spChg>
      </pc:sldChg>
      <pc:sldChg chg="modSp modAnim">
        <pc:chgData name="Rong Qu (staff)" userId="80cc6170-8702-4540-83cc-175e4c32e16c" providerId="ADAL" clId="{DFF0C620-4DFC-42A4-835B-98C0FCD9E0E2}" dt="2026-01-23T13:03:47.316" v="252" actId="20577"/>
        <pc:sldMkLst>
          <pc:docMk/>
          <pc:sldMk cId="0" sldId="857"/>
        </pc:sldMkLst>
        <pc:spChg chg="mod">
          <ac:chgData name="Rong Qu (staff)" userId="80cc6170-8702-4540-83cc-175e4c32e16c" providerId="ADAL" clId="{DFF0C620-4DFC-42A4-835B-98C0FCD9E0E2}" dt="2026-01-23T13:03:47.316" v="252" actId="20577"/>
          <ac:spMkLst>
            <pc:docMk/>
            <pc:sldMk cId="0" sldId="857"/>
            <ac:spMk id="7" creationId="{23A5CF7D-1288-776C-5C8B-05FCE97EC2B1}"/>
          </ac:spMkLst>
        </pc:spChg>
      </pc:sldChg>
      <pc:sldChg chg="modSp mod">
        <pc:chgData name="Rong Qu (staff)" userId="80cc6170-8702-4540-83cc-175e4c32e16c" providerId="ADAL" clId="{DFF0C620-4DFC-42A4-835B-98C0FCD9E0E2}" dt="2026-01-23T12:13:50.651" v="21" actId="20577"/>
        <pc:sldMkLst>
          <pc:docMk/>
          <pc:sldMk cId="0" sldId="885"/>
        </pc:sldMkLst>
        <pc:spChg chg="mod">
          <ac:chgData name="Rong Qu (staff)" userId="80cc6170-8702-4540-83cc-175e4c32e16c" providerId="ADAL" clId="{DFF0C620-4DFC-42A4-835B-98C0FCD9E0E2}" dt="2026-01-23T12:13:50.651" v="21" actId="20577"/>
          <ac:spMkLst>
            <pc:docMk/>
            <pc:sldMk cId="0" sldId="885"/>
            <ac:spMk id="12290" creationId="{CC7545E9-4352-FC9B-7E05-23D03D85F8D8}"/>
          </ac:spMkLst>
        </pc:spChg>
      </pc:sldChg>
      <pc:sldChg chg="modSp mod">
        <pc:chgData name="Rong Qu (staff)" userId="80cc6170-8702-4540-83cc-175e4c32e16c" providerId="ADAL" clId="{DFF0C620-4DFC-42A4-835B-98C0FCD9E0E2}" dt="2026-01-23T13:04:08.329" v="272" actId="20577"/>
        <pc:sldMkLst>
          <pc:docMk/>
          <pc:sldMk cId="0" sldId="886"/>
        </pc:sldMkLst>
        <pc:spChg chg="mod">
          <ac:chgData name="Rong Qu (staff)" userId="80cc6170-8702-4540-83cc-175e4c32e16c" providerId="ADAL" clId="{DFF0C620-4DFC-42A4-835B-98C0FCD9E0E2}" dt="2026-01-23T13:04:08.329" v="272" actId="20577"/>
          <ac:spMkLst>
            <pc:docMk/>
            <pc:sldMk cId="0" sldId="886"/>
            <ac:spMk id="32770" creationId="{4A525AFF-2060-E33E-E1FC-6C7F5843A537}"/>
          </ac:spMkLst>
        </pc:spChg>
      </pc:sldChg>
    </pc:docChg>
  </pc:docChgLst>
  <pc:docChgLst>
    <pc:chgData name="Rong Qu (staff)" userId="80cc6170-8702-4540-83cc-175e4c32e16c" providerId="ADAL" clId="{013E5AC4-F529-46FB-90CC-0B0C38055144}"/>
    <pc:docChg chg="custSel modSld">
      <pc:chgData name="Rong Qu (staff)" userId="80cc6170-8702-4540-83cc-175e4c32e16c" providerId="ADAL" clId="{013E5AC4-F529-46FB-90CC-0B0C38055144}" dt="2026-01-26T15:00:40.586" v="2"/>
      <pc:docMkLst>
        <pc:docMk/>
      </pc:docMkLst>
      <pc:sldChg chg="addAnim delAnim modAnim">
        <pc:chgData name="Rong Qu (staff)" userId="80cc6170-8702-4540-83cc-175e4c32e16c" providerId="ADAL" clId="{013E5AC4-F529-46FB-90CC-0B0C38055144}" dt="2026-01-26T15:00:40.586" v="2"/>
        <pc:sldMkLst>
          <pc:docMk/>
          <pc:sldMk cId="0" sldId="7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926224D-4FB9-251D-FB73-6EF42C5F8DE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t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latin typeface="Book Antiqua" panose="0204060205030503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A692EEE-73A2-F07C-EE98-521749D7015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latin typeface="Book Antiqua" panose="0204060205030503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A75DB52-9CDF-30FD-5E4B-685277740AF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6663"/>
            <a:ext cx="30099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b" anchorCtr="0" compatLnSpc="1">
            <a:prstTxWarp prst="textNoShape">
              <a:avLst/>
            </a:prstTxWarp>
          </a:bodyPr>
          <a:lstStyle>
            <a:lvl1pPr algn="l" defTabSz="930275" eaLnBrk="0" hangingPunct="0">
              <a:defRPr sz="1200">
                <a:latin typeface="Book Antiqua" panose="0204060205030503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9CA807CC-B8CA-DC67-6435-1491707A861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856663"/>
            <a:ext cx="30099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69C8887B-D82C-438C-BD84-87E3A7237A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E6B8828-176A-6753-308B-B9FCBC3534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t" anchorCtr="0" compatLnSpc="1">
            <a:prstTxWarp prst="textNoShape">
              <a:avLst/>
            </a:prstTxWarp>
          </a:bodyPr>
          <a:lstStyle>
            <a:lvl1pPr algn="l" defTabSz="93027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729F47E-8731-10C9-55E6-10B9884C74E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9211377-A260-6C85-9B0F-F23E9FB07B3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66713" y="698500"/>
            <a:ext cx="6213475" cy="3495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4F078F1-60C1-9C99-70E2-76611CDB407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27538"/>
            <a:ext cx="5095875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89B77FED-D5EC-584C-496B-01954B4AF3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6663"/>
            <a:ext cx="30099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b" anchorCtr="0" compatLnSpc="1">
            <a:prstTxWarp prst="textNoShape">
              <a:avLst/>
            </a:prstTxWarp>
          </a:bodyPr>
          <a:lstStyle>
            <a:lvl1pPr algn="l" defTabSz="930275" eaLnBrk="1" hangingPunct="1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3ABB788-ED52-353A-9D9E-F874AC392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56663"/>
            <a:ext cx="30099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76" tIns="46488" rIns="92976" bIns="46488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5A418C2-49E8-4B6A-8CD2-2DB3614E0C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B6CD8139-3CCA-0CE3-C37C-1B918AB54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731A7A16-7B37-85FC-B556-8B173C436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24CB0400-5019-3C18-3A1D-41DA9BA93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1pPr>
            <a:lvl2pPr marL="742950" indent="-28575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2pPr>
            <a:lvl3pPr marL="11430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3pPr>
            <a:lvl4pPr marL="16002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4pPr>
            <a:lvl5pPr marL="20574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9pPr>
          </a:lstStyle>
          <a:p>
            <a:fld id="{D338CBE6-0BD6-45EF-BC5C-FEC30A568E92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0B898CE1-B9D4-FD08-5AD6-F4473F5AD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E66E1E-BEC1-414B-96D6-8D1A675A8717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106D7F0-DB9F-7590-273A-85B67765F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40FF1B2B-D8D8-6042-CFDE-DF1F9A321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70EED61D-C443-37C2-619A-28821EFF5A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FAF115CA-67A0-BCFA-8925-712FF900D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6499EB2B-DC20-B5CA-5783-B93E61459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93FDA59-9252-4E07-A60F-C6FE0C1BDD5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8A843C03-BF1C-213F-4BDA-34DC1B4B6D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1589680-DC18-47DD-AD23-38EFF6A57298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DD5DCA7-06F9-1B02-0538-B0B87CA9FC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9303145-1160-21FA-3CCD-B48C82466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 dirty="0"/>
              <a:t>Word cloud: </a:t>
            </a:r>
            <a:r>
              <a:rPr lang="en-US" altLang="en-US"/>
              <a:t>data visualization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2379209-3EA4-C212-1001-D9D121DDB6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36232B-D943-46D6-AE43-DC3D70B88FE6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F595940-F890-C311-D9C5-1A3DC8EEF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00A6A167-0B9C-AB5A-9815-657FE14AB1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5AA95A3-673D-D64A-F413-0DCE321BF3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E3A21E-DA14-4EF6-9CFE-FE41455C31DE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1DB4612-059D-0582-865C-34EA6A0C56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E8AB177-DC33-104F-5C68-E5A1CEE1D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6E65DAB1-1B85-45D8-21E5-B9B231D783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DB731E4D-02A3-FE9F-F483-5F6F588F5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Human thinking! Not logic math but results driven!</a:t>
            </a:r>
            <a:endParaRPr lang="en-GB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0A6E133A-CE87-7C96-413E-4E22B43941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1pPr>
            <a:lvl2pPr marL="742950" indent="-28575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2pPr>
            <a:lvl3pPr marL="11430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3pPr>
            <a:lvl4pPr marL="16002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4pPr>
            <a:lvl5pPr marL="20574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9pPr>
          </a:lstStyle>
          <a:p>
            <a:fld id="{CC5513EC-BBCD-44CF-9A98-032A9367F1BC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AF2F095-A53C-2476-F573-CCDADBF17A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7C8592F-FD68-45CA-93F0-57897862B28A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08270A3-3C04-17A3-99F7-C45DA54BF0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FCB35E7-9A0A-12F8-337F-ED882E612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B41FE42-328D-4103-54D2-704766302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201934-DBD8-45CB-AD85-20E5ADFECC31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A7676A5-BC62-DA8E-430C-EE0441991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908FC22-57D4-B24C-2F04-1639E9F0F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5670350-C3AC-8777-22A6-4F04EDE2D4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564A71-E581-42FD-8B08-BC4E270598FF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F3C0F04-209E-D9AD-7003-F97562F22A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C1B931C-214A-9B63-1DAD-E5FB8E6E0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>
                <a:latin typeface="Arial" panose="020B0604020202020204" pitchFamily="34" charset="0"/>
              </a:rPr>
              <a:t>Coursework: DM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B7801CFB-DF7D-145B-C031-AC322F556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05E5432F-C48E-81D3-53B0-6650F8486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342C85F6-653C-4571-6DB3-CF9F4B183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1pPr>
            <a:lvl2pPr marL="742950" indent="-28575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2pPr>
            <a:lvl3pPr marL="11430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3pPr>
            <a:lvl4pPr marL="16002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4pPr>
            <a:lvl5pPr marL="2057400" indent="-228600" defTabSz="930275"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cs typeface="Arial" panose="020B0604020202020204" pitchFamily="34" charset="0"/>
              </a:defRPr>
            </a:lvl9pPr>
          </a:lstStyle>
          <a:p>
            <a:fld id="{16F03300-1B30-4736-A791-0AE026C9F865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DA71C37B-7DD6-EBD5-4F0D-5E7FF94D098B}"/>
              </a:ext>
            </a:extLst>
          </p:cNvPr>
          <p:cNvSpPr/>
          <p:nvPr/>
        </p:nvSpPr>
        <p:spPr>
          <a:xfrm>
            <a:off x="0" y="4664075"/>
            <a:ext cx="12199938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B17C8226-A358-5E59-C315-08CC15F64C5A}"/>
              </a:ext>
            </a:extLst>
          </p:cNvPr>
          <p:cNvGrpSpPr>
            <a:grpSpLocks/>
          </p:cNvGrpSpPr>
          <p:nvPr/>
        </p:nvGrpSpPr>
        <p:grpSpPr bwMode="auto">
          <a:xfrm>
            <a:off x="-4763" y="4953000"/>
            <a:ext cx="12196763" cy="1911350"/>
            <a:chOff x="-3765" y="4832896"/>
            <a:chExt cx="9147765" cy="2032192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72B1C78D-9558-A039-17C7-9147E7B8E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959" y="4832896"/>
              <a:ext cx="7457041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173429F8-72D5-EF26-D35C-2611EDDDD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5DFE4A0D-BADF-84E0-A328-5201F67B1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A3257BF-61CD-E7EE-469D-19BC4D4BD013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Line 8">
            <a:extLst>
              <a:ext uri="{FF2B5EF4-FFF2-40B4-BE49-F238E27FC236}">
                <a16:creationId xmlns:a16="http://schemas.microsoft.com/office/drawing/2014/main" id="{6468F098-E34F-F6B7-CD93-6891E639885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219200" y="2133600"/>
            <a:ext cx="10155238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9">
            <a:extLst>
              <a:ext uri="{FF2B5EF4-FFF2-40B4-BE49-F238E27FC236}">
                <a16:creationId xmlns:a16="http://schemas.microsoft.com/office/drawing/2014/main" id="{2843840B-C9EA-077C-CAD5-FE297A20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CAC9E4F7-7E00-4BA8-9546-8C03A9F6E0D1}" type="datetime1">
              <a:rPr lang="en-US"/>
              <a:pPr>
                <a:defRPr/>
              </a:pPr>
              <a:t>1/26/2026</a:t>
            </a:fld>
            <a:endParaRPr lang="en-US"/>
          </a:p>
        </p:txBody>
      </p:sp>
      <p:sp>
        <p:nvSpPr>
          <p:cNvPr id="11" name="Footer Placeholder 18">
            <a:extLst>
              <a:ext uri="{FF2B5EF4-FFF2-40B4-BE49-F238E27FC236}">
                <a16:creationId xmlns:a16="http://schemas.microsoft.com/office/drawing/2014/main" id="{07385678-AD0F-8E71-8483-DC5571D8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12" name="Slide Number Placeholder 26">
            <a:extLst>
              <a:ext uri="{FF2B5EF4-FFF2-40B4-BE49-F238E27FC236}">
                <a16:creationId xmlns:a16="http://schemas.microsoft.com/office/drawing/2014/main" id="{76A93E00-0068-6CB8-C730-7CAA3D40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744D71-0981-42B6-B327-8E6B8A150B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7580051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3600" b="0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1B5F2415-A5B4-DEF7-164C-D0282655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GB"/>
              <a:t>Dr R. Qu</a:t>
            </a:r>
          </a:p>
        </p:txBody>
      </p:sp>
      <p:sp>
        <p:nvSpPr>
          <p:cNvPr id="4" name="Footer Placeholder 21">
            <a:extLst>
              <a:ext uri="{FF2B5EF4-FFF2-40B4-BE49-F238E27FC236}">
                <a16:creationId xmlns:a16="http://schemas.microsoft.com/office/drawing/2014/main" id="{9366BA04-A064-539A-7FD1-4A08CCF3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2900" y="6408738"/>
            <a:ext cx="35512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G51FAI: Machine Learning</a:t>
            </a:r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7343DA9E-7ED1-B173-0FAA-4C1F6DD7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60013-1555-4C26-918E-0CCC163468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078062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>
            <a:extLst>
              <a:ext uri="{FF2B5EF4-FFF2-40B4-BE49-F238E27FC236}">
                <a16:creationId xmlns:a16="http://schemas.microsoft.com/office/drawing/2014/main" id="{4518667E-C350-A518-A6BD-DD69D53AE6D5}"/>
              </a:ext>
            </a:extLst>
          </p:cNvPr>
          <p:cNvSpPr/>
          <p:nvPr/>
        </p:nvSpPr>
        <p:spPr>
          <a:xfrm>
            <a:off x="4849813" y="3005138"/>
            <a:ext cx="24288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>
            <a:extLst>
              <a:ext uri="{FF2B5EF4-FFF2-40B4-BE49-F238E27FC236}">
                <a16:creationId xmlns:a16="http://schemas.microsoft.com/office/drawing/2014/main" id="{70E7ADA2-2089-8D65-BC38-5E9CE737733C}"/>
              </a:ext>
            </a:extLst>
          </p:cNvPr>
          <p:cNvSpPr/>
          <p:nvPr/>
        </p:nvSpPr>
        <p:spPr>
          <a:xfrm>
            <a:off x="4598988" y="3005138"/>
            <a:ext cx="2460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EBE93BF-9BB1-2992-19DA-7F1A8897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34852C8-6447-4F44-B733-9B51E3109E9E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3264C4A-B4AC-AEF0-C1D5-E4BFB9CB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BAC5737-6FE1-B66C-BD35-192F8875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B4BE3-15E6-4A7B-A596-2F13DA8DBF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26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48E4F35F-E64C-17EA-B35A-41B67D73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488DE50-85E3-4343-92B9-FA22C4063D58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CAD72A9-C333-A4BF-42BD-DBA44A43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27EA7EA7-103B-2B55-96B4-8B0B65F8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083C5-98B7-4771-B64C-C9ACAE56EC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493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0D6DD-47D6-6E16-61A3-E7FB521C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2C18FAD-869F-4BC5-9788-897C49A7111C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36A69-8FE5-B7C4-2F94-E2BF0001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15CE8-45CD-DA81-132A-E18FDB40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51D63-15E6-4AF3-AE23-29690DAF64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229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6807599B-B1D1-234D-DD47-27F713EE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E24398D-1572-4243-874C-4FF59223048C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703A799-8DBB-CF0E-520E-1A48B3EF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1560140-D9DB-9E62-07F6-814CFE05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DAF25-D5D0-47EC-8042-FE0FC13828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487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4ED3AD2A-33E6-A0FC-165C-B833A2AD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95B9-2AD4-4DAC-991C-9EF44370E38B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3" name="Footer Placeholder 21">
            <a:extLst>
              <a:ext uri="{FF2B5EF4-FFF2-40B4-BE49-F238E27FC236}">
                <a16:creationId xmlns:a16="http://schemas.microsoft.com/office/drawing/2014/main" id="{73709A52-A13F-0F64-02B3-4DAC5247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B5EAE984-41BD-E47A-8818-A66976D8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C8135-4E2E-46C1-AD38-EEC8FD59B2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319937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F0B40-DEFE-6455-9C7F-1C6C416F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8F62B55-9EF0-4366-8C9B-5DF867F8DD4D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8D8FE-4875-1195-8010-B75D5231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28C5E-E427-46DE-716B-AAE4821F7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33AEF-9C34-40A6-87D2-EFB379A100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208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>
            <a:extLst>
              <a:ext uri="{FF2B5EF4-FFF2-40B4-BE49-F238E27FC236}">
                <a16:creationId xmlns:a16="http://schemas.microsoft.com/office/drawing/2014/main" id="{9DF25A81-7E74-DEFB-C8CE-AA5453198146}"/>
              </a:ext>
            </a:extLst>
          </p:cNvPr>
          <p:cNvSpPr>
            <a:spLocks/>
          </p:cNvSpPr>
          <p:nvPr/>
        </p:nvSpPr>
        <p:spPr bwMode="auto">
          <a:xfrm>
            <a:off x="666750" y="5945188"/>
            <a:ext cx="6586538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>
              <a:cs typeface="+mn-cs"/>
            </a:endParaRPr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3EBEF08B-8067-79FE-AD54-F337AB62E062}"/>
              </a:ext>
            </a:extLst>
          </p:cNvPr>
          <p:cNvSpPr>
            <a:spLocks/>
          </p:cNvSpPr>
          <p:nvPr/>
        </p:nvSpPr>
        <p:spPr bwMode="auto">
          <a:xfrm>
            <a:off x="647700" y="5938838"/>
            <a:ext cx="4921250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E354533B-230E-82E5-15E1-9E75FB2E2147}"/>
              </a:ext>
            </a:extLst>
          </p:cNvPr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20AF08-CA6E-AC32-905D-6154F2718E3A}"/>
              </a:ext>
            </a:extLst>
          </p:cNvPr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>
            <a:extLst>
              <a:ext uri="{FF2B5EF4-FFF2-40B4-BE49-F238E27FC236}">
                <a16:creationId xmlns:a16="http://schemas.microsoft.com/office/drawing/2014/main" id="{87CBC96E-27C7-C8C0-EE1A-09BDC3E4E216}"/>
              </a:ext>
            </a:extLst>
          </p:cNvPr>
          <p:cNvSpPr/>
          <p:nvPr/>
        </p:nvSpPr>
        <p:spPr>
          <a:xfrm>
            <a:off x="11552238" y="4987925"/>
            <a:ext cx="244475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>
            <a:extLst>
              <a:ext uri="{FF2B5EF4-FFF2-40B4-BE49-F238E27FC236}">
                <a16:creationId xmlns:a16="http://schemas.microsoft.com/office/drawing/2014/main" id="{06C06D8F-E3C0-8A1A-DA46-635868175F5D}"/>
              </a:ext>
            </a:extLst>
          </p:cNvPr>
          <p:cNvSpPr/>
          <p:nvPr/>
        </p:nvSpPr>
        <p:spPr>
          <a:xfrm>
            <a:off x="11303000" y="4987925"/>
            <a:ext cx="242888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B4D137C5-8B45-6AAE-18E7-233408D1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1ED16C24-FF59-4533-A80A-41DC26AD0DA6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4313770-8007-B766-6606-5B637E18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F56E3CD-02A7-CD6C-55FA-1954AD28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50C55-778A-4314-A008-6C3866F941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089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4DB7B0DA-CF9A-2360-4484-62C4E17C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28B41-08AF-4BBD-BB8E-21DBE9744D12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23E87F62-3BD3-25C0-656C-D2136554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CEF9FA9E-AF7B-6A04-A0EC-4E5F8493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BF88A-9DAB-4DA3-A70E-73E4BF727B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4370431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BC2DB776-7456-F668-C37F-25DB5EB7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6A275-10B1-45D4-A3FD-E922C4E99172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7819461D-7DBF-D084-0EC4-7FC82B74C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6" name="Slide Number Placeholder 17">
            <a:extLst>
              <a:ext uri="{FF2B5EF4-FFF2-40B4-BE49-F238E27FC236}">
                <a16:creationId xmlns:a16="http://schemas.microsoft.com/office/drawing/2014/main" id="{D7533413-6CB9-77B9-A78B-180CAEFB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AD265-C3DF-4480-9643-EB20872A25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714573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3E2CA363-84F2-7B09-F596-EC3E95068A6C}"/>
              </a:ext>
            </a:extLst>
          </p:cNvPr>
          <p:cNvSpPr>
            <a:spLocks/>
          </p:cNvSpPr>
          <p:nvPr/>
        </p:nvSpPr>
        <p:spPr bwMode="auto">
          <a:xfrm>
            <a:off x="666750" y="5945188"/>
            <a:ext cx="6586538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>
              <a:cs typeface="+mn-cs"/>
            </a:endParaRPr>
          </a:p>
        </p:txBody>
      </p:sp>
      <p:sp>
        <p:nvSpPr>
          <p:cNvPr id="1027" name="Freeform 11">
            <a:extLst>
              <a:ext uri="{FF2B5EF4-FFF2-40B4-BE49-F238E27FC236}">
                <a16:creationId xmlns:a16="http://schemas.microsoft.com/office/drawing/2014/main" id="{28A4C4C7-1E0E-0C52-776E-B409E784D3FB}"/>
              </a:ext>
            </a:extLst>
          </p:cNvPr>
          <p:cNvSpPr>
            <a:spLocks/>
          </p:cNvSpPr>
          <p:nvPr/>
        </p:nvSpPr>
        <p:spPr bwMode="auto">
          <a:xfrm>
            <a:off x="647700" y="5938838"/>
            <a:ext cx="4921250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6724BC5F-78F2-2C16-176B-13BBFDB84F95}"/>
              </a:ext>
            </a:extLst>
          </p:cNvPr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3E8A63-52C3-1E38-DA99-DF0FF5A5F7BB}"/>
              </a:ext>
            </a:extLst>
          </p:cNvPr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52E96E68-9CF4-78CB-4B52-A1FBF3BA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>
            <a:extLst>
              <a:ext uri="{FF2B5EF4-FFF2-40B4-BE49-F238E27FC236}">
                <a16:creationId xmlns:a16="http://schemas.microsoft.com/office/drawing/2014/main" id="{F40DA74B-5C75-BD8C-B4DC-619ACA669B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68C4A49-5077-4A14-DA7F-1A1D0CDBC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70963" y="6408738"/>
            <a:ext cx="255905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Book Antiqua" panose="02040602050305030304" pitchFamily="18" charset="0"/>
                <a:cs typeface="+mn-cs"/>
              </a:defRPr>
            </a:lvl1pPr>
            <a:extLst/>
          </a:lstStyle>
          <a:p>
            <a:pPr>
              <a:defRPr/>
            </a:pPr>
            <a:fld id="{17F1FDEE-F44E-4C51-9AE3-3298DBF0C41D}" type="datetimeFigureOut">
              <a:rPr lang="en-GB"/>
              <a:pPr>
                <a:defRPr/>
              </a:pPr>
              <a:t>26/01/2026</a:t>
            </a:fld>
            <a:endParaRPr lang="en-GB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026C3B2-031D-1C63-30BC-70C82EDC5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0413" y="6408738"/>
            <a:ext cx="3133725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Book Antiqua" panose="02040602050305030304" pitchFamily="18" charset="0"/>
                <a:cs typeface="+mn-cs"/>
              </a:defRPr>
            </a:lvl1pPr>
            <a:extLst/>
          </a:lstStyle>
          <a:p>
            <a:pPr>
              <a:defRPr/>
            </a:pPr>
            <a:r>
              <a:rPr lang="en-US"/>
              <a:t>G51IAI: Data Mining -- by Jingpeng Li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E2DD36D-70A1-FCE2-23C9-ACF100493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3" y="6408738"/>
            <a:ext cx="48895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31B883F-804D-4DF2-88ED-DEA00881EB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48" r:id="rId1"/>
    <p:sldLayoutId id="2147485549" r:id="rId2"/>
    <p:sldLayoutId id="2147485550" r:id="rId3"/>
    <p:sldLayoutId id="2147485551" r:id="rId4"/>
    <p:sldLayoutId id="2147485552" r:id="rId5"/>
    <p:sldLayoutId id="2147485553" r:id="rId6"/>
    <p:sldLayoutId id="2147485545" r:id="rId7"/>
    <p:sldLayoutId id="2147485554" r:id="rId8"/>
    <p:sldLayoutId id="2147485555" r:id="rId9"/>
    <p:sldLayoutId id="2147485546" r:id="rId10"/>
    <p:sldLayoutId id="2147485547" r:id="rId11"/>
  </p:sldLayoutIdLst>
  <p:transition>
    <p:wipe dir="d"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Impac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s://www.unite.ai/moores-law/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books.google.com/ngrams/graph?content=machine+learning&amp;year_start=1800&amp;year_end=2019&amp;corpus=en-2019&amp;smoothing=3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" TargetMode="External"/><Relationship Id="rId5" Type="http://schemas.openxmlformats.org/officeDocument/2006/relationships/hyperlink" Target="https://www.kdnuggets.com/datasets/index.html" TargetMode="External"/><Relationship Id="rId4" Type="http://schemas.openxmlformats.org/officeDocument/2006/relationships/hyperlink" Target="http://archive.ics.uci.edu/ml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CC7545E9-4352-FC9B-7E05-23D03D85F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850563" cy="46355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Supervised vs. unsupervised learning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III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Supervised learning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IV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ANN &amp; extensions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537" indent="0" eaLnBrk="1" hangingPunct="1">
              <a:spcBef>
                <a:spcPct val="0"/>
              </a:spcBef>
              <a:buNone/>
            </a:pPr>
            <a:r>
              <a:rPr lang="en-GB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Please record your attendance today at </a:t>
            </a:r>
            <a:r>
              <a:rPr lang="en-GB" altLang="en-US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SEAtS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D29D542-882E-68DB-9AFE-8C3EE4347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3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COMP1008 Part II: Machine Learning</a:t>
            </a:r>
            <a:endParaRPr lang="en-US" i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F17B863A-9DFB-877B-62D4-CD36F6A33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3611563"/>
            <a:ext cx="7772400" cy="825500"/>
          </a:xfrm>
        </p:spPr>
        <p:txBody>
          <a:bodyPr/>
          <a:lstStyle/>
          <a:p>
            <a:pPr marR="0" algn="ctr">
              <a:lnSpc>
                <a:spcPct val="90000"/>
              </a:lnSpc>
            </a:pPr>
            <a:r>
              <a:rPr lang="en-US" altLang="en-US" sz="2500" dirty="0">
                <a:solidFill>
                  <a:schemeClr val="tx1"/>
                </a:solidFill>
                <a:cs typeface="Tahoma" panose="020B0604030504040204" pitchFamily="34" charset="0"/>
              </a:rPr>
              <a:t>Professor Rong Qu</a:t>
            </a:r>
          </a:p>
          <a:p>
            <a:pPr marR="0" algn="ctr">
              <a:lnSpc>
                <a:spcPct val="90000"/>
              </a:lnSpc>
            </a:pPr>
            <a:r>
              <a:rPr lang="en-US" altLang="en-US" sz="1900" dirty="0">
                <a:solidFill>
                  <a:schemeClr val="tx1"/>
                </a:solidFill>
                <a:cs typeface="Tahoma" panose="020B0604030504040204" pitchFamily="34" charset="0"/>
              </a:rPr>
              <a:t>rong.qu@nottingham.ac.uk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AE5B121-D4BD-C2DA-E8F3-C9EFC28B9496}"/>
              </a:ext>
            </a:extLst>
          </p:cNvPr>
          <p:cNvSpPr txBox="1">
            <a:spLocks noChangeArrowheads="1"/>
          </p:cNvSpPr>
          <p:nvPr/>
        </p:nvSpPr>
        <p:spPr>
          <a:xfrm>
            <a:off x="1983553" y="1844824"/>
            <a:ext cx="8208912" cy="1518602"/>
          </a:xfrm>
          <a:prstGeom prst="rect">
            <a:avLst/>
          </a:prstGeom>
        </p:spPr>
        <p:txBody>
          <a:bodyPr anchor="b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>
              <a:defRPr/>
            </a:pPr>
            <a:r>
              <a:rPr lang="en-US" sz="3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COMP1008 - Fundamentals of AI</a:t>
            </a:r>
            <a:b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3200" dirty="0">
                <a:solidFill>
                  <a:srgbClr val="0000CC"/>
                </a:solidFill>
                <a:latin typeface="Tahoma" pitchFamily="34" charset="0"/>
              </a:rPr>
              <a:t>Machine Learning - Introduction</a:t>
            </a:r>
            <a:endParaRPr lang="en-GB" sz="3200" dirty="0">
              <a:solidFill>
                <a:srgbClr val="0000CC"/>
              </a:solidFill>
            </a:endParaRPr>
          </a:p>
        </p:txBody>
      </p:sp>
      <p:grpSp>
        <p:nvGrpSpPr>
          <p:cNvPr id="14340" name="Group 5">
            <a:extLst>
              <a:ext uri="{FF2B5EF4-FFF2-40B4-BE49-F238E27FC236}">
                <a16:creationId xmlns:a16="http://schemas.microsoft.com/office/drawing/2014/main" id="{4B6ADFA1-580A-13EB-6353-2CE362E6188E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4437063"/>
            <a:ext cx="3022600" cy="2097087"/>
            <a:chOff x="1873250" y="3367088"/>
            <a:chExt cx="3089275" cy="2312987"/>
          </a:xfrm>
        </p:grpSpPr>
        <p:pic>
          <p:nvPicPr>
            <p:cNvPr id="14342" name="Picture 10" descr="machine learning - three pillars">
              <a:extLst>
                <a:ext uri="{FF2B5EF4-FFF2-40B4-BE49-F238E27FC236}">
                  <a16:creationId xmlns:a16="http://schemas.microsoft.com/office/drawing/2014/main" id="{2AFA70C1-EB3B-2D10-C582-1D255D9E4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3250" y="3367088"/>
              <a:ext cx="3089275" cy="2312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03569C-4FDD-0E19-1DC8-B93126F1DD00}"/>
                </a:ext>
              </a:extLst>
            </p:cNvPr>
            <p:cNvSpPr txBox="1"/>
            <p:nvPr/>
          </p:nvSpPr>
          <p:spPr>
            <a:xfrm rot="16200000">
              <a:off x="2016390" y="4631032"/>
              <a:ext cx="742397" cy="25960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105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Models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276ACC-B735-DA67-6423-6BADA45BECE8}"/>
                </a:ext>
              </a:extLst>
            </p:cNvPr>
            <p:cNvSpPr txBox="1"/>
            <p:nvPr/>
          </p:nvSpPr>
          <p:spPr>
            <a:xfrm rot="16200000">
              <a:off x="2831645" y="4617089"/>
              <a:ext cx="1164372" cy="2612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105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Computation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682F7F-3700-2233-3EEC-CC44806AB735}"/>
                </a:ext>
              </a:extLst>
            </p:cNvPr>
            <p:cNvSpPr txBox="1"/>
            <p:nvPr/>
          </p:nvSpPr>
          <p:spPr>
            <a:xfrm rot="16200000">
              <a:off x="4171667" y="4664301"/>
              <a:ext cx="549794" cy="25960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105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Data</a:t>
              </a:r>
            </a:p>
          </p:txBody>
        </p:sp>
      </p:grpSp>
      <p:pic>
        <p:nvPicPr>
          <p:cNvPr id="14341" name="Picture 7" descr="machine learning techniques word cloud">
            <a:extLst>
              <a:ext uri="{FF2B5EF4-FFF2-40B4-BE49-F238E27FC236}">
                <a16:creationId xmlns:a16="http://schemas.microsoft.com/office/drawing/2014/main" id="{90B20D94-9C30-7E30-6156-0F28FCE54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4498975"/>
            <a:ext cx="3302000" cy="203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>
            <a:extLst>
              <a:ext uri="{FF2B5EF4-FFF2-40B4-BE49-F238E27FC236}">
                <a16:creationId xmlns:a16="http://schemas.microsoft.com/office/drawing/2014/main" id="{119E3399-D602-863C-FCB6-DA49A245D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7950" indent="0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GB" altLang="en-US" sz="2400"/>
              <a:t>A computer program is said to </a:t>
            </a:r>
            <a:r>
              <a:rPr lang="en-GB" altLang="en-US" sz="2400" b="1">
                <a:solidFill>
                  <a:srgbClr val="C00000"/>
                </a:solidFill>
              </a:rPr>
              <a:t>learn</a:t>
            </a:r>
            <a:r>
              <a:rPr lang="en-GB" altLang="en-US" sz="2400">
                <a:solidFill>
                  <a:srgbClr val="C00000"/>
                </a:solidFill>
              </a:rPr>
              <a:t> </a:t>
            </a:r>
            <a:r>
              <a:rPr lang="en-GB" altLang="en-US" sz="2400"/>
              <a:t>from </a:t>
            </a:r>
            <a:r>
              <a:rPr lang="en-GB" altLang="en-US" sz="2400">
                <a:solidFill>
                  <a:srgbClr val="0000CC"/>
                </a:solidFill>
              </a:rPr>
              <a:t>experience E </a:t>
            </a:r>
            <a:r>
              <a:rPr lang="en-GB" altLang="en-US" sz="2400"/>
              <a:t>with respect to some class of </a:t>
            </a:r>
            <a:r>
              <a:rPr lang="en-GB" altLang="en-US" sz="2400">
                <a:solidFill>
                  <a:srgbClr val="0000CC"/>
                </a:solidFill>
              </a:rPr>
              <a:t>tasks T</a:t>
            </a:r>
            <a:r>
              <a:rPr lang="en-GB" altLang="en-US" sz="2400"/>
              <a:t> and </a:t>
            </a:r>
            <a:r>
              <a:rPr lang="en-GB" altLang="en-US" sz="2400">
                <a:solidFill>
                  <a:srgbClr val="0000CC"/>
                </a:solidFill>
              </a:rPr>
              <a:t>performance measure P </a:t>
            </a:r>
            <a:r>
              <a:rPr lang="en-GB" altLang="en-US" sz="2400"/>
              <a:t>if its performance at tasks in T, as measured by P, improves</a:t>
            </a:r>
            <a:r>
              <a:rPr lang="en-GB" altLang="en-US" sz="2400">
                <a:solidFill>
                  <a:srgbClr val="C00000"/>
                </a:solidFill>
              </a:rPr>
              <a:t> </a:t>
            </a:r>
            <a:r>
              <a:rPr lang="en-GB" altLang="en-US" sz="2400"/>
              <a:t>with experience E</a:t>
            </a:r>
          </a:p>
          <a:p>
            <a:pPr marL="107950" indent="0" algn="r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GB" altLang="en-US" sz="2400"/>
              <a:t>Tom Mitchell</a:t>
            </a:r>
          </a:p>
          <a:p>
            <a:pPr marL="107950" indent="0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GB" altLang="en-US" sz="2400"/>
              <a:t>Let the </a:t>
            </a:r>
            <a:r>
              <a:rPr lang="en-GB" altLang="en-US" sz="2400">
                <a:solidFill>
                  <a:srgbClr val="C00000"/>
                </a:solidFill>
              </a:rPr>
              <a:t>computer programs to </a:t>
            </a:r>
            <a:r>
              <a:rPr lang="en-GB" altLang="en-US" sz="2400" b="1">
                <a:solidFill>
                  <a:srgbClr val="C00000"/>
                </a:solidFill>
              </a:rPr>
              <a:t>learn</a:t>
            </a:r>
            <a:r>
              <a:rPr lang="en-GB" altLang="en-US" sz="2400">
                <a:solidFill>
                  <a:srgbClr val="C00000"/>
                </a:solidFill>
              </a:rPr>
              <a:t> </a:t>
            </a:r>
            <a:r>
              <a:rPr lang="en-GB" altLang="en-US" sz="2400"/>
              <a:t>by themselves.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53E31B-872F-0ECF-9AD5-ABDEB206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Learning:</a:t>
            </a:r>
            <a:r>
              <a:rPr lang="en-GB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Definition</a:t>
            </a:r>
          </a:p>
        </p:txBody>
      </p:sp>
      <p:pic>
        <p:nvPicPr>
          <p:cNvPr id="12294" name="Picture 6" descr="face recognition">
            <a:extLst>
              <a:ext uri="{FF2B5EF4-FFF2-40B4-BE49-F238E27FC236}">
                <a16:creationId xmlns:a16="http://schemas.microsoft.com/office/drawing/2014/main" id="{8C7F0609-FBF5-CDC2-5CD7-E0684749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563" y="3648075"/>
            <a:ext cx="3429000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 descr="handwriting recognition">
            <a:extLst>
              <a:ext uri="{FF2B5EF4-FFF2-40B4-BE49-F238E27FC236}">
                <a16:creationId xmlns:a16="http://schemas.microsoft.com/office/drawing/2014/main" id="{424260AF-4BA0-BAC1-B37E-8485E5FE3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3656013"/>
            <a:ext cx="23717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5" descr="voice recognition">
            <a:extLst>
              <a:ext uri="{FF2B5EF4-FFF2-40B4-BE49-F238E27FC236}">
                <a16:creationId xmlns:a16="http://schemas.microsoft.com/office/drawing/2014/main" id="{5AEBE5C2-9880-C186-F1E1-E24BCCF2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463" y="3660775"/>
            <a:ext cx="1590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 descr="loan classification">
            <a:extLst>
              <a:ext uri="{FF2B5EF4-FFF2-40B4-BE49-F238E27FC236}">
                <a16:creationId xmlns:a16="http://schemas.microsoft.com/office/drawing/2014/main" id="{60369CB5-0974-6193-83DB-848563C4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038725"/>
            <a:ext cx="5740400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Footer Placeholder 4">
            <a:extLst>
              <a:ext uri="{FF2B5EF4-FFF2-40B4-BE49-F238E27FC236}">
                <a16:creationId xmlns:a16="http://schemas.microsoft.com/office/drawing/2014/main" id="{01F81287-CD0B-2D16-6078-D90523CA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  <p:pic>
        <p:nvPicPr>
          <p:cNvPr id="16393" name="Picture 4" descr="digit recognition">
            <a:extLst>
              <a:ext uri="{FF2B5EF4-FFF2-40B4-BE49-F238E27FC236}">
                <a16:creationId xmlns:a16="http://schemas.microsoft.com/office/drawing/2014/main" id="{56E8B197-CA8E-1110-D705-2BEA3C8F0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3656013"/>
            <a:ext cx="1370012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7" descr="machine learning techniques word cloud">
            <a:extLst>
              <a:ext uri="{FF2B5EF4-FFF2-40B4-BE49-F238E27FC236}">
                <a16:creationId xmlns:a16="http://schemas.microsoft.com/office/drawing/2014/main" id="{032BF452-3273-E60A-7CFD-1C3748DC0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13" y="4292600"/>
            <a:ext cx="3914775" cy="241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5459" name="Rectangle 3">
            <a:extLst>
              <a:ext uri="{FF2B5EF4-FFF2-40B4-BE49-F238E27FC236}">
                <a16:creationId xmlns:a16="http://schemas.microsoft.com/office/drawing/2014/main" id="{DAB1AE47-E2C1-C811-5364-99BE9F4B3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60513"/>
            <a:ext cx="10815638" cy="3686175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  <a:defRPr/>
            </a:pPr>
            <a:r>
              <a:rPr lang="en-GB" altLang="en-US" sz="2400" dirty="0">
                <a:solidFill>
                  <a:srgbClr val="0000CC"/>
                </a:solidFill>
              </a:rPr>
              <a:t>Top-down / Classic (deductive)</a:t>
            </a:r>
            <a:endParaRPr lang="en-GB" altLang="en-US" sz="2400" dirty="0"/>
          </a:p>
          <a:p>
            <a:pPr marL="849313" lvl="1" indent="-457200" eaLnBrk="1" hangingPunct="1"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GB" altLang="en-US" sz="2000" dirty="0"/>
              <a:t>Model all different functions and wire all these “agents” together</a:t>
            </a:r>
          </a:p>
          <a:p>
            <a:pPr marL="849313" lvl="1" indent="-457200" eaLnBrk="1" hangingPunct="1"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GB" altLang="en-US" sz="2000" dirty="0"/>
              <a:t>Write (manually) in programming language instructions to solve the (usually specific) task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GB" altLang="en-US" sz="2400" dirty="0">
                <a:solidFill>
                  <a:srgbClr val="0000CC"/>
                </a:solidFill>
              </a:rPr>
              <a:t>Bottom-up / Machine learning (inductive)</a:t>
            </a:r>
            <a:endParaRPr lang="en-GB" altLang="en-US" sz="2400" dirty="0"/>
          </a:p>
          <a:p>
            <a:pPr lvl="1" eaLnBrk="1" hangingPunct="1">
              <a:spcBef>
                <a:spcPct val="0"/>
              </a:spcBef>
              <a:defRPr/>
            </a:pPr>
            <a:r>
              <a:rPr lang="en-GB" altLang="en-US" sz="2200" dirty="0"/>
              <a:t>Give the system a lot of </a:t>
            </a:r>
            <a:r>
              <a:rPr lang="en-GB" altLang="en-US" sz="2200" dirty="0">
                <a:solidFill>
                  <a:srgbClr val="0000CC"/>
                </a:solidFill>
              </a:rPr>
              <a:t>data</a:t>
            </a:r>
            <a:r>
              <a:rPr lang="en-GB" altLang="en-US" sz="2200" dirty="0"/>
              <a:t>, “so it can discover by itself concepts in the world”</a:t>
            </a:r>
          </a:p>
          <a:p>
            <a:pPr marL="392113" lvl="1" indent="0" algn="r" eaLnBrk="1" hangingPunct="1">
              <a:spcBef>
                <a:spcPct val="0"/>
              </a:spcBef>
              <a:buFont typeface="Verdana" panose="020B0604030504040204" pitchFamily="34" charset="0"/>
              <a:buNone/>
              <a:defRPr/>
            </a:pPr>
            <a:r>
              <a:rPr lang="en-GB" altLang="en-US" sz="2200" i="1" dirty="0"/>
              <a:t>Andrew Ng</a:t>
            </a:r>
            <a:r>
              <a:rPr lang="en-GB" altLang="en-US" sz="2200" dirty="0"/>
              <a:t>, Stanford University</a:t>
            </a:r>
          </a:p>
          <a:p>
            <a:pPr marL="849313" lvl="1" indent="-457200" eaLnBrk="1" hangingPunct="1"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GB" altLang="en-US" sz="2000" dirty="0"/>
              <a:t>Analyse and understand (manually) the task</a:t>
            </a:r>
          </a:p>
          <a:p>
            <a:pPr marL="849313" lvl="1" indent="-457200" eaLnBrk="1" hangingPunct="1"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GB" altLang="en-US" sz="2000" dirty="0"/>
              <a:t>Select the appropriate model(s)</a:t>
            </a:r>
          </a:p>
          <a:p>
            <a:pPr marL="849313" lvl="1" indent="-457200" eaLnBrk="1" hangingPunct="1"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GB" altLang="en-US" sz="2000" dirty="0"/>
              <a:t>Training and testing</a:t>
            </a:r>
          </a:p>
          <a:p>
            <a:pPr marL="849313" lvl="1" indent="-457200" eaLnBrk="1" hangingPunct="1"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GB" altLang="en-US" sz="2000" dirty="0"/>
              <a:t>Use the same model to (automatically) solve unseen tasks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EDF4F6-8CC8-00A0-8052-37606645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Learning:</a:t>
            </a:r>
            <a:r>
              <a:rPr lang="en-GB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reach true AI</a:t>
            </a:r>
          </a:p>
        </p:txBody>
      </p:sp>
      <p:sp>
        <p:nvSpPr>
          <p:cNvPr id="18437" name="Footer Placeholder 4">
            <a:extLst>
              <a:ext uri="{FF2B5EF4-FFF2-40B4-BE49-F238E27FC236}">
                <a16:creationId xmlns:a16="http://schemas.microsoft.com/office/drawing/2014/main" id="{B4838804-E6EC-1E33-9C15-80082E79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E7AFD-02DE-D795-9811-8F96FB6E8D65}"/>
              </a:ext>
            </a:extLst>
          </p:cNvPr>
          <p:cNvSpPr txBox="1"/>
          <p:nvPr/>
        </p:nvSpPr>
        <p:spPr>
          <a:xfrm>
            <a:off x="3467708" y="5838825"/>
            <a:ext cx="4480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GB" sz="1200" dirty="0">
                <a:solidFill>
                  <a:schemeClr val="tx1"/>
                </a:solidFill>
                <a:latin typeface="+mn-lt"/>
              </a:rPr>
              <a:t>MS </a:t>
            </a:r>
            <a:r>
              <a:rPr lang="en-GB" sz="1200" dirty="0" err="1">
                <a:solidFill>
                  <a:schemeClr val="tx1"/>
                </a:solidFill>
                <a:latin typeface="+mn-lt"/>
              </a:rPr>
              <a:t>Stupariu</a:t>
            </a:r>
            <a:r>
              <a:rPr lang="en-GB" sz="1200" dirty="0">
                <a:solidFill>
                  <a:schemeClr val="tx1"/>
                </a:solidFill>
                <a:latin typeface="+mn-lt"/>
              </a:rPr>
              <a:t>, S Cushman, AI </a:t>
            </a:r>
            <a:r>
              <a:rPr lang="en-GB" sz="1200" dirty="0" err="1">
                <a:solidFill>
                  <a:schemeClr val="tx1"/>
                </a:solidFill>
                <a:latin typeface="+mn-lt"/>
              </a:rPr>
              <a:t>Pleșoianu</a:t>
            </a:r>
            <a:r>
              <a:rPr lang="en-GB" sz="1200" dirty="0">
                <a:solidFill>
                  <a:schemeClr val="tx1"/>
                </a:solidFill>
                <a:latin typeface="+mn-lt"/>
              </a:rPr>
              <a:t>, C. </a:t>
            </a:r>
            <a:r>
              <a:rPr lang="en-GB" sz="1200" dirty="0" err="1">
                <a:solidFill>
                  <a:schemeClr val="tx1"/>
                </a:solidFill>
                <a:latin typeface="+mn-lt"/>
              </a:rPr>
              <a:t>Fürst</a:t>
            </a:r>
            <a:r>
              <a:rPr lang="en-GB" sz="1200" dirty="0">
                <a:solidFill>
                  <a:schemeClr val="tx1"/>
                </a:solidFill>
                <a:latin typeface="+mn-lt"/>
              </a:rPr>
              <a:t>, Machine learning in landscape ecological analysis: a review of recent approaches, Landscape Ecology 37(5), May 2022.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86043884-E717-31B7-14E7-DA93B2D8A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63663"/>
            <a:ext cx="10815638" cy="3686175"/>
          </a:xfrm>
        </p:spPr>
        <p:txBody>
          <a:bodyPr/>
          <a:lstStyle/>
          <a:p>
            <a:pPr marL="10795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1. </a:t>
            </a:r>
            <a:r>
              <a:rPr lang="en-US" altLang="en-US" sz="2400" dirty="0">
                <a:solidFill>
                  <a:srgbClr val="0000CC"/>
                </a:solidFill>
                <a:cs typeface="Times New Roman" panose="02020603050405020304" pitchFamily="18" charset="0"/>
              </a:rPr>
              <a:t>Models</a:t>
            </a:r>
            <a:r>
              <a:rPr lang="en-US" altLang="en-US" sz="2400" dirty="0">
                <a:cs typeface="Times New Roman" panose="02020603050405020304" pitchFamily="18" charset="0"/>
              </a:rPr>
              <a:t> and algorithms</a:t>
            </a:r>
          </a:p>
          <a:p>
            <a:pPr lvl="1" eaLnBrk="1" hangingPunct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Doesn’t require knowledge engineers to find all</a:t>
            </a:r>
            <a:br>
              <a:rPr lang="en-US" altLang="en-US" sz="2000" dirty="0">
                <a:cs typeface="Times New Roman" panose="02020603050405020304" pitchFamily="18" charset="0"/>
              </a:rPr>
            </a:br>
            <a:r>
              <a:rPr lang="en-US" altLang="en-US" sz="2000" dirty="0">
                <a:cs typeface="Times New Roman" panose="02020603050405020304" pitchFamily="18" charset="0"/>
              </a:rPr>
              <a:t>functions and wire them into an “agent”</a:t>
            </a:r>
            <a:br>
              <a:rPr lang="en-US" altLang="en-US" sz="2000" dirty="0">
                <a:cs typeface="Times New Roman" panose="02020603050405020304" pitchFamily="18" charset="0"/>
              </a:rPr>
            </a:br>
            <a:r>
              <a:rPr lang="en-US" altLang="en-US" sz="2000" dirty="0">
                <a:cs typeface="Times New Roman" panose="02020603050405020304" pitchFamily="18" charset="0"/>
              </a:rPr>
              <a:t>(i.e. </a:t>
            </a:r>
            <a:r>
              <a:rPr lang="en-US" altLang="en-US" sz="2000" b="1" dirty="0">
                <a:cs typeface="Times New Roman" panose="02020603050405020304" pitchFamily="18" charset="0"/>
              </a:rPr>
              <a:t>knowledge acquisition </a:t>
            </a:r>
            <a:r>
              <a:rPr lang="en-US" altLang="en-US" sz="2000" dirty="0">
                <a:cs typeface="Times New Roman" panose="02020603050405020304" pitchFamily="18" charset="0"/>
              </a:rPr>
              <a:t>bottleneck / modelling)</a:t>
            </a:r>
          </a:p>
          <a:p>
            <a:pPr marL="107950" indent="0" eaLnBrk="1" hangingPunct="1">
              <a:spcBef>
                <a:spcPct val="0"/>
              </a:spcBef>
              <a:buFont typeface="Wingdings 3" panose="05040102010807070707" pitchFamily="18" charset="2"/>
              <a:buNone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2. Powerful and cheaper </a:t>
            </a:r>
            <a:r>
              <a:rPr lang="en-US" altLang="en-US" sz="2400" dirty="0">
                <a:solidFill>
                  <a:srgbClr val="0000CC"/>
                </a:solidFill>
                <a:cs typeface="Times New Roman" panose="02020603050405020304" pitchFamily="18" charset="0"/>
              </a:rPr>
              <a:t>computation</a:t>
            </a:r>
          </a:p>
          <a:p>
            <a:pPr marL="706438" lvl="1" indent="-342900" eaLnBrk="1" hangingPunct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Moore’s Law(?)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59E9B-7944-B02F-9DCA-314052AD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Learning: </a:t>
            </a:r>
            <a:r>
              <a:rPr lang="en-GB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pillars</a:t>
            </a:r>
          </a:p>
        </p:txBody>
      </p:sp>
      <p:pic>
        <p:nvPicPr>
          <p:cNvPr id="22532" name="Picture 20" descr="artificial neural network">
            <a:extLst>
              <a:ext uri="{FF2B5EF4-FFF2-40B4-BE49-F238E27FC236}">
                <a16:creationId xmlns:a16="http://schemas.microsoft.com/office/drawing/2014/main" id="{65B3CB41-70A6-6146-1AEC-92AD1AF84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150" y="423863"/>
            <a:ext cx="308927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10" descr="machine learning - three pillars">
            <a:extLst>
              <a:ext uri="{FF2B5EF4-FFF2-40B4-BE49-F238E27FC236}">
                <a16:creationId xmlns:a16="http://schemas.microsoft.com/office/drawing/2014/main" id="{8AEA496B-D423-EAB6-5E56-961A6FEC0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0" y="3367088"/>
            <a:ext cx="3089275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6664B0-ED2C-1EA0-B995-9A5617E432F2}"/>
              </a:ext>
            </a:extLst>
          </p:cNvPr>
          <p:cNvSpPr txBox="1"/>
          <p:nvPr/>
        </p:nvSpPr>
        <p:spPr>
          <a:xfrm rot="16200000">
            <a:off x="2016125" y="4630738"/>
            <a:ext cx="742950" cy="26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050" b="1" dirty="0">
                <a:solidFill>
                  <a:schemeClr val="tx1"/>
                </a:solidFill>
                <a:latin typeface="Arial" panose="020B0604020202020204" pitchFamily="34" charset="0"/>
              </a:rPr>
              <a:t>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F6749-1063-5882-D78F-EAC78020F03F}"/>
              </a:ext>
            </a:extLst>
          </p:cNvPr>
          <p:cNvSpPr txBox="1"/>
          <p:nvPr/>
        </p:nvSpPr>
        <p:spPr>
          <a:xfrm rot="16200000">
            <a:off x="2832100" y="4616450"/>
            <a:ext cx="1163638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050" b="1" dirty="0">
                <a:solidFill>
                  <a:schemeClr val="tx1"/>
                </a:solidFill>
                <a:latin typeface="Arial" panose="020B0604020202020204" pitchFamily="34" charset="0"/>
              </a:rPr>
              <a:t>Computation</a:t>
            </a:r>
          </a:p>
        </p:txBody>
      </p:sp>
      <p:sp>
        <p:nvSpPr>
          <p:cNvPr id="20488" name="Footer Placeholder 4">
            <a:extLst>
              <a:ext uri="{FF2B5EF4-FFF2-40B4-BE49-F238E27FC236}">
                <a16:creationId xmlns:a16="http://schemas.microsoft.com/office/drawing/2014/main" id="{22E0A160-0C25-8683-EDCD-787B370A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  <p:pic>
        <p:nvPicPr>
          <p:cNvPr id="3" name="Picture 11" descr="What Is Moore's Law and How Does It Impact AI ? - Unite.AI">
            <a:hlinkClick r:id="rId5"/>
            <a:extLst>
              <a:ext uri="{FF2B5EF4-FFF2-40B4-BE49-F238E27FC236}">
                <a16:creationId xmlns:a16="http://schemas.microsoft.com/office/drawing/2014/main" id="{31A636A4-1FD3-DCD9-77F9-5B9C302E2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75" y="3224213"/>
            <a:ext cx="5124450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D2E3DFA5-5630-EE3C-71B0-EAB799868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63663"/>
            <a:ext cx="9832975" cy="3686175"/>
          </a:xfrm>
        </p:spPr>
        <p:txBody>
          <a:bodyPr/>
          <a:lstStyle/>
          <a:p>
            <a:pPr marL="107950" indent="0" eaLnBrk="1" hangingPunct="1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3. Massive </a:t>
            </a:r>
            <a:r>
              <a:rPr lang="en-US" altLang="en-US" sz="2400">
                <a:solidFill>
                  <a:srgbClr val="0000CC"/>
                </a:solidFill>
                <a:cs typeface="Times New Roman" panose="02020603050405020304" pitchFamily="18" charset="0"/>
              </a:rPr>
              <a:t>data</a:t>
            </a:r>
            <a:r>
              <a:rPr lang="en-US" altLang="en-US" sz="2400">
                <a:cs typeface="Times New Roman" panose="02020603050405020304" pitchFamily="18" charset="0"/>
              </a:rPr>
              <a:t> warehouse</a:t>
            </a:r>
          </a:p>
          <a:p>
            <a:pPr lvl="1" eaLnBrk="1" hangingPunct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/>
              <a:t>IoT / IoE: social media; business; industries;</a:t>
            </a:r>
            <a:br>
              <a:rPr lang="en-US" altLang="en-US" sz="2000"/>
            </a:br>
            <a:r>
              <a:rPr lang="en-US" altLang="en-US" sz="2000"/>
              <a:t>devices/vehicles; things …</a:t>
            </a:r>
            <a:endParaRPr lang="en-US" altLang="en-US" sz="2000"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/>
              <a:t>Data in 2013 &gt; all data in history</a:t>
            </a:r>
          </a:p>
          <a:p>
            <a:pPr lvl="1" eaLnBrk="1" hangingPunct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lvl="1" eaLnBrk="1" hangingPunct="1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000"/>
              <a:t>Big data: quantity, format/dimension, speed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FCD3F-1696-CC05-3A28-9AEE09D4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Learning: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pillars</a:t>
            </a:r>
          </a:p>
        </p:txBody>
      </p:sp>
      <p:pic>
        <p:nvPicPr>
          <p:cNvPr id="22532" name="Picture 16" descr="data">
            <a:extLst>
              <a:ext uri="{FF2B5EF4-FFF2-40B4-BE49-F238E27FC236}">
                <a16:creationId xmlns:a16="http://schemas.microsoft.com/office/drawing/2014/main" id="{E3F202A1-90E9-DB35-A8FB-BB35AA62E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113" y="4249738"/>
            <a:ext cx="2439987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17" descr="Waymo driverless car">
            <a:extLst>
              <a:ext uri="{FF2B5EF4-FFF2-40B4-BE49-F238E27FC236}">
                <a16:creationId xmlns:a16="http://schemas.microsoft.com/office/drawing/2014/main" id="{456DE272-0691-D68E-DEDA-FCBF80B19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088" y="3781425"/>
            <a:ext cx="2470150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2" descr="Ngram">
            <a:hlinkClick r:id="rId5"/>
            <a:extLst>
              <a:ext uri="{FF2B5EF4-FFF2-40B4-BE49-F238E27FC236}">
                <a16:creationId xmlns:a16="http://schemas.microsoft.com/office/drawing/2014/main" id="{231FC7D3-101B-420D-F426-BF81E07642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5546725"/>
            <a:ext cx="38862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10" descr="machine learning - three pillars">
            <a:extLst>
              <a:ext uri="{FF2B5EF4-FFF2-40B4-BE49-F238E27FC236}">
                <a16:creationId xmlns:a16="http://schemas.microsoft.com/office/drawing/2014/main" id="{CF67C487-0F06-B292-5347-025B9F819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0" y="3367088"/>
            <a:ext cx="3089275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62A367-5794-034C-D3DF-D0304A8DF4D6}"/>
              </a:ext>
            </a:extLst>
          </p:cNvPr>
          <p:cNvSpPr txBox="1"/>
          <p:nvPr/>
        </p:nvSpPr>
        <p:spPr>
          <a:xfrm rot="16200000">
            <a:off x="2016125" y="4630738"/>
            <a:ext cx="742950" cy="26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050" b="1" dirty="0">
                <a:solidFill>
                  <a:schemeClr val="tx1"/>
                </a:solidFill>
                <a:latin typeface="Arial" panose="020B0604020202020204" pitchFamily="34" charset="0"/>
              </a:rPr>
              <a:t>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FEEC0-B20B-1D3A-CCED-35A2A9ADE489}"/>
              </a:ext>
            </a:extLst>
          </p:cNvPr>
          <p:cNvSpPr txBox="1"/>
          <p:nvPr/>
        </p:nvSpPr>
        <p:spPr>
          <a:xfrm rot="16200000">
            <a:off x="2832100" y="4616450"/>
            <a:ext cx="1163638" cy="261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050" b="1" dirty="0">
                <a:solidFill>
                  <a:schemeClr val="tx1"/>
                </a:solidFill>
                <a:latin typeface="Arial" panose="020B0604020202020204" pitchFamily="34" charset="0"/>
              </a:rPr>
              <a:t>Computation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981FF-A09D-9504-A29B-DFB80721851B}"/>
              </a:ext>
            </a:extLst>
          </p:cNvPr>
          <p:cNvSpPr txBox="1"/>
          <p:nvPr/>
        </p:nvSpPr>
        <p:spPr>
          <a:xfrm rot="16200000">
            <a:off x="4171950" y="4689476"/>
            <a:ext cx="549275" cy="26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050" b="1" dirty="0">
                <a:solidFill>
                  <a:schemeClr val="tx1"/>
                </a:solidFill>
                <a:latin typeface="Arial" panose="020B0604020202020204" pitchFamily="34" charset="0"/>
              </a:rPr>
              <a:t>Data</a:t>
            </a:r>
          </a:p>
        </p:txBody>
      </p:sp>
      <p:pic>
        <p:nvPicPr>
          <p:cNvPr id="24587" name="Picture 15" descr="Big Data: Volume, Velocity and Variety">
            <a:extLst>
              <a:ext uri="{FF2B5EF4-FFF2-40B4-BE49-F238E27FC236}">
                <a16:creationId xmlns:a16="http://schemas.microsoft.com/office/drawing/2014/main" id="{D83A317B-A8EB-9C5C-0BB4-CC3A82610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604838"/>
            <a:ext cx="280035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94EFE013-CF5C-B84E-D76C-A72F0DFACFEA}"/>
              </a:ext>
            </a:extLst>
          </p:cNvPr>
          <p:cNvGraphicFramePr>
            <a:graphicFrameLocks noGrp="1"/>
          </p:cNvGraphicFramePr>
          <p:nvPr/>
        </p:nvGraphicFramePr>
        <p:xfrm>
          <a:off x="6619875" y="2547938"/>
          <a:ext cx="4697413" cy="100966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88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83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COMP1008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6" marR="91436" marT="45597" marB="4559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 Course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6" marR="91436" marT="45597" marB="4559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Machine</a:t>
                      </a:r>
                      <a:br>
                        <a:rPr lang="en-GB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learning</a:t>
                      </a:r>
                    </a:p>
                  </a:txBody>
                  <a:tcPr marL="91436" marR="91436" marT="45597" marB="455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COMP4124 – Big Data</a:t>
                      </a:r>
                      <a:br>
                        <a:rPr lang="en-US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Learning and Technologies</a:t>
                      </a:r>
                      <a:endParaRPr lang="en-GB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6" marR="91436" marT="45597" marB="4559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48" name="Footer Placeholder 4">
            <a:extLst>
              <a:ext uri="{FF2B5EF4-FFF2-40B4-BE49-F238E27FC236}">
                <a16:creationId xmlns:a16="http://schemas.microsoft.com/office/drawing/2014/main" id="{8EED4E08-F732-5980-E7B1-74148BB3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 descr="computer">
            <a:extLst>
              <a:ext uri="{FF2B5EF4-FFF2-40B4-BE49-F238E27FC236}">
                <a16:creationId xmlns:a16="http://schemas.microsoft.com/office/drawing/2014/main" id="{846FD15D-6D6D-8E76-C2F4-ADE35607E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1962150"/>
            <a:ext cx="2136775" cy="116998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1pPr>
            <a:lvl2pPr marL="742950" indent="-28575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2pPr>
            <a:lvl3pPr marL="11430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3pPr>
            <a:lvl4pPr marL="16002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4pPr>
            <a:lvl5pPr marL="20574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9pPr>
          </a:lstStyle>
          <a:p>
            <a:pPr>
              <a:defRPr/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Computer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77143134-1011-211D-AB14-45A73DC41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9325" y="2322513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pPr eaLnBrk="1" hangingPunct="1">
              <a:defRPr/>
            </a:pPr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C690B805-37A2-887C-7193-C5832D474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9325" y="2689225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pPr eaLnBrk="1" hangingPunct="1">
              <a:defRPr/>
            </a:pPr>
            <a:endParaRPr lang="en-GB" sz="16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5B90A39-C086-1B82-CD66-EE5BB776E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9400" y="2095500"/>
            <a:ext cx="714375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1pPr>
            <a:lvl2pPr marL="742950" indent="-28575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2pPr>
            <a:lvl3pPr marL="11430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3pPr>
            <a:lvl4pPr marL="16002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4pPr>
            <a:lvl5pPr marL="20574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9pPr>
          </a:lstStyle>
          <a:p>
            <a:pPr algn="r">
              <a:defRPr/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Data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CE86DCDD-2376-1771-DB0B-5AB86A84F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75" y="2462213"/>
            <a:ext cx="113665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1pPr>
            <a:lvl2pPr marL="742950" indent="-28575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2pPr>
            <a:lvl3pPr marL="11430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3pPr>
            <a:lvl4pPr marL="16002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4pPr>
            <a:lvl5pPr marL="20574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9pPr>
          </a:lstStyle>
          <a:p>
            <a:pPr algn="r">
              <a:defRPr/>
            </a:pPr>
            <a:r>
              <a:rPr lang="en-US" altLang="en-US" sz="2000" dirty="0">
                <a:solidFill>
                  <a:schemeClr val="tx1"/>
                </a:solidFill>
                <a:latin typeface="+mn-lt"/>
              </a:rPr>
              <a:t>Program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8E276A-0026-3C78-B184-92B2ADF8072A}"/>
              </a:ext>
            </a:extLst>
          </p:cNvPr>
          <p:cNvGrpSpPr>
            <a:grpSpLocks/>
          </p:cNvGrpSpPr>
          <p:nvPr/>
        </p:nvGrpSpPr>
        <p:grpSpPr bwMode="auto">
          <a:xfrm>
            <a:off x="5305425" y="2322513"/>
            <a:ext cx="1708150" cy="400050"/>
            <a:chOff x="5838825" y="2462243"/>
            <a:chExt cx="1708264" cy="399852"/>
          </a:xfrm>
        </p:grpSpPr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C4B5101F-C523-2783-A7CC-CFFA67762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8825" y="2689143"/>
              <a:ext cx="7620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GB" sz="16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D3828922-D063-9EFB-0FF3-9C7E1EC74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1825" y="2462243"/>
              <a:ext cx="965264" cy="3998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1pPr>
              <a:lvl2pPr marL="742950" indent="-28575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2pPr>
              <a:lvl3pPr marL="11430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3pPr>
              <a:lvl4pPr marL="16002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4pPr>
              <a:lvl5pPr marL="20574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9pPr>
            </a:lstStyle>
            <a:p>
              <a:pPr algn="l">
                <a:defRPr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</a:rPr>
                <a:t>Output</a:t>
              </a:r>
            </a:p>
          </p:txBody>
        </p:sp>
      </p:grpSp>
      <p:sp>
        <p:nvSpPr>
          <p:cNvPr id="13" name="Rectangle 19" descr="computer">
            <a:extLst>
              <a:ext uri="{FF2B5EF4-FFF2-40B4-BE49-F238E27FC236}">
                <a16:creationId xmlns:a16="http://schemas.microsoft.com/office/drawing/2014/main" id="{79BA7960-85BE-3662-DA88-33B40E005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3402013"/>
            <a:ext cx="2136775" cy="1277937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1pPr>
            <a:lvl2pPr marL="742950" indent="-28575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2pPr>
            <a:lvl3pPr marL="11430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3pPr>
            <a:lvl4pPr marL="16002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4pPr>
            <a:lvl5pPr marL="2057400" indent="-228600" algn="ctr" eaLnBrk="0" hangingPunct="0">
              <a:defRPr sz="2400">
                <a:solidFill>
                  <a:srgbClr val="CF0E30"/>
                </a:solidFill>
                <a:latin typeface="Book Antiqua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itchFamily="18" charset="0"/>
              </a:defRPr>
            </a:lvl9pPr>
          </a:lstStyle>
          <a:p>
            <a:pPr>
              <a:defRPr/>
            </a:pPr>
            <a:r>
              <a:rPr lang="en-US" altLang="en-US" sz="2000">
                <a:solidFill>
                  <a:schemeClr val="tx1"/>
                </a:solidFill>
                <a:latin typeface="+mn-lt"/>
              </a:rPr>
              <a:t>Computer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3B063A-4179-1CCB-CDC2-4145E8573496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3641725"/>
            <a:ext cx="1825625" cy="773113"/>
            <a:chOff x="1842615" y="4065444"/>
            <a:chExt cx="1824510" cy="772811"/>
          </a:xfrm>
        </p:grpSpPr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307944FD-E8CC-E9AE-3B20-6A549BE02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3283" y="4265391"/>
              <a:ext cx="913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GB" sz="16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052EDBA8-326F-D824-BCE8-5C8E501FE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3283" y="4662111"/>
              <a:ext cx="913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GB" sz="16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15146AE1-56FA-D1E5-247B-F9144B138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2182" y="4065444"/>
              <a:ext cx="715525" cy="3998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1pPr>
              <a:lvl2pPr marL="742950" indent="-28575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2pPr>
              <a:lvl3pPr marL="11430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3pPr>
              <a:lvl4pPr marL="16002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4pPr>
              <a:lvl5pPr marL="20574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9pPr>
            </a:lstStyle>
            <a:p>
              <a:pPr algn="r">
                <a:defRPr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</a:rPr>
                <a:t>Data</a:t>
              </a: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DFCBF03F-3BDE-E066-EC1B-72053E27F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2615" y="4438361"/>
              <a:ext cx="964611" cy="3998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1pPr>
              <a:lvl2pPr marL="742950" indent="-28575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2pPr>
              <a:lvl3pPr marL="11430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3pPr>
              <a:lvl4pPr marL="16002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4pPr>
              <a:lvl5pPr marL="20574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9pPr>
            </a:lstStyle>
            <a:p>
              <a:pPr algn="r">
                <a:defRPr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</a:rPr>
                <a:t>Output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FFE95E-FD26-B3DA-0693-39CA54DBCBE5}"/>
              </a:ext>
            </a:extLst>
          </p:cNvPr>
          <p:cNvGrpSpPr>
            <a:grpSpLocks/>
          </p:cNvGrpSpPr>
          <p:nvPr/>
        </p:nvGrpSpPr>
        <p:grpSpPr bwMode="auto">
          <a:xfrm>
            <a:off x="5305425" y="3824288"/>
            <a:ext cx="1598613" cy="400050"/>
            <a:chOff x="5838825" y="4211885"/>
            <a:chExt cx="1598448" cy="399913"/>
          </a:xfrm>
        </p:grpSpPr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03C45ADA-B68A-027C-CAF1-482810276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8825" y="4434059"/>
              <a:ext cx="7619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GB" sz="16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0FF2F8EB-4EC7-91CB-E23D-428D8FF8A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1698" y="4211885"/>
              <a:ext cx="855575" cy="3999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1pPr>
              <a:lvl2pPr marL="742950" indent="-28575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2pPr>
              <a:lvl3pPr marL="11430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3pPr>
              <a:lvl4pPr marL="16002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4pPr>
              <a:lvl5pPr marL="2057400" indent="-228600" algn="ctr" eaLnBrk="0" hangingPunct="0"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CF0E30"/>
                  </a:solidFill>
                  <a:latin typeface="Book Antiqua" pitchFamily="18" charset="0"/>
                </a:defRPr>
              </a:lvl9pPr>
            </a:lstStyle>
            <a:p>
              <a:pPr algn="l">
                <a:defRPr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</a:rPr>
                <a:t>Model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0D5BA8-3AC6-C7CB-3DC7-B48F0E94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88" y="260648"/>
            <a:ext cx="9623412" cy="1143000"/>
          </a:xfrm>
        </p:spPr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</a:t>
            </a:r>
            <a:r>
              <a:rPr lang="en-GB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3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vs. Traditional Programs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3" name="Group 22" descr="neuron">
            <a:extLst>
              <a:ext uri="{FF2B5EF4-FFF2-40B4-BE49-F238E27FC236}">
                <a16:creationId xmlns:a16="http://schemas.microsoft.com/office/drawing/2014/main" id="{D4FB2BCC-DFF3-B8A0-F4BD-EDC97DEE5E5A}"/>
              </a:ext>
            </a:extLst>
          </p:cNvPr>
          <p:cNvGrpSpPr>
            <a:grpSpLocks/>
          </p:cNvGrpSpPr>
          <p:nvPr/>
        </p:nvGrpSpPr>
        <p:grpSpPr bwMode="auto">
          <a:xfrm>
            <a:off x="8724900" y="4135438"/>
            <a:ext cx="2136775" cy="1381125"/>
            <a:chOff x="3946120" y="5042978"/>
            <a:chExt cx="1635382" cy="1030576"/>
          </a:xfrm>
        </p:grpSpPr>
        <p:sp>
          <p:nvSpPr>
            <p:cNvPr id="24622" name="Rectangle 4">
              <a:extLst>
                <a:ext uri="{FF2B5EF4-FFF2-40B4-BE49-F238E27FC236}">
                  <a16:creationId xmlns:a16="http://schemas.microsoft.com/office/drawing/2014/main" id="{523B19CC-0564-2133-5B54-BEBD9AD62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120" y="5042978"/>
              <a:ext cx="1635382" cy="10305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400" b="1"/>
            </a:p>
          </p:txBody>
        </p:sp>
        <p:grpSp>
          <p:nvGrpSpPr>
            <p:cNvPr id="24623" name="Group 6">
              <a:extLst>
                <a:ext uri="{FF2B5EF4-FFF2-40B4-BE49-F238E27FC236}">
                  <a16:creationId xmlns:a16="http://schemas.microsoft.com/office/drawing/2014/main" id="{9BD23E5E-CC3A-6630-5837-222BE1865C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3386" y="5159327"/>
              <a:ext cx="1482355" cy="762325"/>
              <a:chOff x="2141" y="2654"/>
              <a:chExt cx="2396" cy="1155"/>
            </a:xfrm>
          </p:grpSpPr>
          <p:sp>
            <p:nvSpPr>
              <p:cNvPr id="24624" name="Text Box 7">
                <a:extLst>
                  <a:ext uri="{FF2B5EF4-FFF2-40B4-BE49-F238E27FC236}">
                    <a16:creationId xmlns:a16="http://schemas.microsoft.com/office/drawing/2014/main" id="{305504EB-1204-B576-25A6-BAEEA7A3CD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4" y="3397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625" name="Text Box 8">
                <a:extLst>
                  <a:ext uri="{FF2B5EF4-FFF2-40B4-BE49-F238E27FC236}">
                    <a16:creationId xmlns:a16="http://schemas.microsoft.com/office/drawing/2014/main" id="{76A19BE6-58B4-F2E9-927C-D4EFC5C97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718"/>
                <a:ext cx="390" cy="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626" name="Text Box 10">
                <a:extLst>
                  <a:ext uri="{FF2B5EF4-FFF2-40B4-BE49-F238E27FC236}">
                    <a16:creationId xmlns:a16="http://schemas.microsoft.com/office/drawing/2014/main" id="{45295B8A-2320-25D3-598B-856432DBAB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1" y="2654"/>
                <a:ext cx="876" cy="34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 b="1">
                    <a:latin typeface="Times New Roman" panose="02020603050405020304" pitchFamily="18" charset="0"/>
                  </a:rPr>
                  <a:t>X</a:t>
                </a:r>
                <a:r>
                  <a:rPr lang="en-GB" altLang="en-US" sz="1400" b="1" baseline="-25000">
                    <a:latin typeface="Times New Roman" panose="02020603050405020304" pitchFamily="18" charset="0"/>
                  </a:rPr>
                  <a:t>1</a:t>
                </a:r>
                <a:endParaRPr lang="en-GB" altLang="en-US" sz="1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7" name="Text Box 13">
                <a:extLst>
                  <a:ext uri="{FF2B5EF4-FFF2-40B4-BE49-F238E27FC236}">
                    <a16:creationId xmlns:a16="http://schemas.microsoft.com/office/drawing/2014/main" id="{74BBBE20-D0F0-7216-7596-3C18C021FE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5" y="3434"/>
                <a:ext cx="822" cy="3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 b="1">
                    <a:latin typeface="Times New Roman" panose="02020603050405020304" pitchFamily="18" charset="0"/>
                  </a:rPr>
                  <a:t>X</a:t>
                </a:r>
                <a:r>
                  <a:rPr lang="en-GB" altLang="en-US" sz="1400" b="1" baseline="-25000">
                    <a:latin typeface="Times New Roman" panose="02020603050405020304" pitchFamily="18" charset="0"/>
                  </a:rPr>
                  <a:t>2</a:t>
                </a:r>
                <a:endParaRPr lang="en-GB" altLang="en-US" sz="1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28" name="Oval 17">
                <a:extLst>
                  <a:ext uri="{FF2B5EF4-FFF2-40B4-BE49-F238E27FC236}">
                    <a16:creationId xmlns:a16="http://schemas.microsoft.com/office/drawing/2014/main" id="{71E082F7-04E2-DB79-CDAF-E38237C63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2992"/>
                <a:ext cx="615" cy="61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 b="1"/>
                  <a:t>Y</a:t>
                </a:r>
              </a:p>
            </p:txBody>
          </p:sp>
          <p:sp>
            <p:nvSpPr>
              <p:cNvPr id="24629" name="Line 18">
                <a:extLst>
                  <a:ext uri="{FF2B5EF4-FFF2-40B4-BE49-F238E27FC236}">
                    <a16:creationId xmlns:a16="http://schemas.microsoft.com/office/drawing/2014/main" id="{E047FA07-406D-9CCC-4E46-7F5A83326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7" y="2980"/>
                <a:ext cx="1176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630" name="Line 19">
                <a:extLst>
                  <a:ext uri="{FF2B5EF4-FFF2-40B4-BE49-F238E27FC236}">
                    <a16:creationId xmlns:a16="http://schemas.microsoft.com/office/drawing/2014/main" id="{3CE94066-E82E-8414-9ADE-0A525146DA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57" y="3362"/>
                <a:ext cx="1176" cy="22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02B8F2F-373D-42A5-AC28-D38F564C5005}"/>
              </a:ext>
            </a:extLst>
          </p:cNvPr>
          <p:cNvGraphicFramePr>
            <a:graphicFrameLocks noGrp="1"/>
          </p:cNvGraphicFramePr>
          <p:nvPr/>
        </p:nvGraphicFramePr>
        <p:xfrm>
          <a:off x="8796338" y="1811338"/>
          <a:ext cx="1635126" cy="2081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86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AND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/>
                    </a:p>
                  </a:txBody>
                  <a:tcPr marL="91408" marR="91408" marT="45755" marB="4575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6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X1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X2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Y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6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6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6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1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69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0</a:t>
                      </a:r>
                    </a:p>
                  </a:txBody>
                  <a:tcPr marL="91408" marR="91408" marT="45755" marB="457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19" name="Rectangle 21">
            <a:extLst>
              <a:ext uri="{FF2B5EF4-FFF2-40B4-BE49-F238E27FC236}">
                <a16:creationId xmlns:a16="http://schemas.microsoft.com/office/drawing/2014/main" id="{63AC0A3E-8297-3148-DE71-F22EA8091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4959350"/>
            <a:ext cx="2236788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Book Antiqua" panose="02040602050305030304" pitchFamily="18" charset="0"/>
                <a:cs typeface="Times New Roman" panose="02020603050405020304" pitchFamily="18" charset="0"/>
              </a:rPr>
              <a:t>Tom Mitchell</a:t>
            </a:r>
          </a:p>
        </p:txBody>
      </p:sp>
      <p:sp>
        <p:nvSpPr>
          <p:cNvPr id="24620" name="Footer Placeholder 4">
            <a:extLst>
              <a:ext uri="{FF2B5EF4-FFF2-40B4-BE49-F238E27FC236}">
                <a16:creationId xmlns:a16="http://schemas.microsoft.com/office/drawing/2014/main" id="{9045ACF6-8C7F-D6FF-E430-3A186A8C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  <p:sp>
        <p:nvSpPr>
          <p:cNvPr id="3" name="Line 22">
            <a:extLst>
              <a:ext uri="{FF2B5EF4-FFF2-40B4-BE49-F238E27FC236}">
                <a16:creationId xmlns:a16="http://schemas.microsoft.com/office/drawing/2014/main" id="{668F4C7E-DF98-FA44-6350-DFAD7F0548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40350" y="3089275"/>
            <a:ext cx="1150938" cy="803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pPr eaLnBrk="1" hangingPunct="1">
              <a:defRPr/>
            </a:pPr>
            <a:endParaRPr lang="en-GB" sz="160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8E3342F2-511E-142C-29D6-BFE22788C5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363663"/>
            <a:ext cx="10887075" cy="3686175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en-US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Data mining</a:t>
            </a:r>
            <a:r>
              <a:rPr lang="en-US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cs typeface="Times New Roman" panose="02020603050405020304" pitchFamily="18" charset="0"/>
              </a:rPr>
              <a:t>exploration and analysis of large quantities of data to discover </a:t>
            </a:r>
            <a:r>
              <a:rPr lang="en-US" altLang="en-US" sz="2400" dirty="0">
                <a:solidFill>
                  <a:srgbClr val="0033CC"/>
                </a:solidFill>
              </a:rPr>
              <a:t>valid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0033CC"/>
                </a:solidFill>
              </a:rPr>
              <a:t>novel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0033CC"/>
                </a:solidFill>
              </a:rPr>
              <a:t>useful</a:t>
            </a:r>
            <a:r>
              <a:rPr lang="en-US" altLang="en-US" sz="2400" dirty="0"/>
              <a:t>, and ultimately </a:t>
            </a:r>
            <a:r>
              <a:rPr lang="en-US" altLang="en-US" sz="2400" dirty="0">
                <a:solidFill>
                  <a:srgbClr val="0033CC"/>
                </a:solidFill>
              </a:rPr>
              <a:t>understandable</a:t>
            </a:r>
            <a:r>
              <a:rPr lang="en-US" altLang="en-US" sz="2400" dirty="0"/>
              <a:t> patterns in data.</a:t>
            </a:r>
          </a:p>
          <a:p>
            <a:pPr eaLnBrk="1" hangingPunct="1">
              <a:spcBef>
                <a:spcPts val="0"/>
              </a:spcBef>
              <a:buFont typeface="Wingdings 3" panose="05040102010807070707" pitchFamily="18" charset="2"/>
              <a:buNone/>
              <a:defRPr/>
            </a:pPr>
            <a:endParaRPr lang="en-US" altLang="en-US" sz="1000" dirty="0"/>
          </a:p>
          <a:p>
            <a:pPr lvl="1" eaLnBrk="1" hangingPunct="1">
              <a:spcBef>
                <a:spcPts val="0"/>
              </a:spcBef>
              <a:buFontTx/>
              <a:buChar char="o"/>
              <a:defRPr/>
            </a:pPr>
            <a:r>
              <a:rPr lang="en-US" altLang="en-US" sz="2000" b="1" dirty="0">
                <a:solidFill>
                  <a:srgbClr val="0033CC"/>
                </a:solidFill>
              </a:rPr>
              <a:t>Valid</a:t>
            </a:r>
            <a:r>
              <a:rPr lang="en-US" altLang="en-US" sz="2000" dirty="0"/>
              <a:t>: hold on new data with some certainty</a:t>
            </a:r>
          </a:p>
          <a:p>
            <a:pPr lvl="1" eaLnBrk="1" hangingPunct="1">
              <a:spcBef>
                <a:spcPts val="0"/>
              </a:spcBef>
              <a:buFontTx/>
              <a:buChar char="o"/>
              <a:defRPr/>
            </a:pPr>
            <a:r>
              <a:rPr lang="en-US" altLang="en-US" sz="2000" b="1" dirty="0">
                <a:solidFill>
                  <a:srgbClr val="0033CC"/>
                </a:solidFill>
              </a:rPr>
              <a:t>Novel</a:t>
            </a:r>
            <a:r>
              <a:rPr lang="en-US" altLang="en-US" sz="2000" dirty="0"/>
              <a:t>: non-obvious to the system</a:t>
            </a:r>
          </a:p>
          <a:p>
            <a:pPr lvl="1" eaLnBrk="1" hangingPunct="1">
              <a:spcBef>
                <a:spcPts val="0"/>
              </a:spcBef>
              <a:buFontTx/>
              <a:buChar char="o"/>
              <a:defRPr/>
            </a:pPr>
            <a:r>
              <a:rPr lang="en-US" altLang="en-US" sz="2000" b="1" dirty="0">
                <a:solidFill>
                  <a:srgbClr val="0033CC"/>
                </a:solidFill>
              </a:rPr>
              <a:t>Useful</a:t>
            </a:r>
            <a:r>
              <a:rPr lang="en-US" altLang="en-US" sz="2000" dirty="0"/>
              <a:t>: should be possible to act on the item</a:t>
            </a:r>
          </a:p>
          <a:p>
            <a:pPr lvl="1" eaLnBrk="1" hangingPunct="1">
              <a:spcBef>
                <a:spcPts val="0"/>
              </a:spcBef>
              <a:buFontTx/>
              <a:buChar char="o"/>
              <a:defRPr/>
            </a:pPr>
            <a:r>
              <a:rPr lang="en-US" altLang="en-US" sz="2000" b="1" dirty="0">
                <a:solidFill>
                  <a:srgbClr val="0033CC"/>
                </a:solidFill>
              </a:rPr>
              <a:t>Understandable</a:t>
            </a:r>
            <a:r>
              <a:rPr lang="en-US" altLang="en-US" sz="2000" dirty="0"/>
              <a:t>: humans can interpret</a:t>
            </a:r>
            <a:br>
              <a:rPr lang="en-US" altLang="en-US" sz="2000" dirty="0"/>
            </a:br>
            <a:r>
              <a:rPr lang="en-US" altLang="en-US" sz="2000" dirty="0"/>
              <a:t>the pattern/model</a:t>
            </a:r>
          </a:p>
          <a:p>
            <a:pPr lvl="1" eaLnBrk="1" hangingPunct="1">
              <a:spcBef>
                <a:spcPts val="0"/>
              </a:spcBef>
              <a:buFontTx/>
              <a:buChar char="o"/>
              <a:defRPr/>
            </a:pPr>
            <a:endParaRPr lang="en-US" altLang="en-US" sz="2000" dirty="0"/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400" dirty="0"/>
              <a:t>Machine learning: predicts with </a:t>
            </a:r>
            <a:r>
              <a:rPr lang="en-US" altLang="en-US" sz="2400" dirty="0">
                <a:solidFill>
                  <a:srgbClr val="0000CC"/>
                </a:solidFill>
              </a:rPr>
              <a:t>models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2400" dirty="0"/>
              <a:t>Data mining: explains </a:t>
            </a:r>
            <a:r>
              <a:rPr lang="en-US" altLang="en-US" sz="2400" dirty="0">
                <a:solidFill>
                  <a:srgbClr val="0000CC"/>
                </a:solidFill>
              </a:rPr>
              <a:t>patterns</a:t>
            </a:r>
            <a:endParaRPr lang="en-US" altLang="en-US" sz="2000" dirty="0"/>
          </a:p>
          <a:p>
            <a:pPr marL="392113" lvl="1" indent="0" eaLnBrk="1" hangingPunct="1">
              <a:spcBef>
                <a:spcPts val="0"/>
              </a:spcBef>
              <a:buFont typeface="Verdana" panose="020B0604030504040204" pitchFamily="34" charset="0"/>
              <a:buNone/>
              <a:defRPr/>
            </a:pPr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5859DD-94BA-2ECA-541D-29111C22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</a:t>
            </a:r>
            <a:r>
              <a:rPr lang="en-GB" sz="3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vs. Data Mining</a:t>
            </a:r>
          </a:p>
        </p:txBody>
      </p:sp>
      <p:sp>
        <p:nvSpPr>
          <p:cNvPr id="26628" name="Footer Placeholder 4">
            <a:extLst>
              <a:ext uri="{FF2B5EF4-FFF2-40B4-BE49-F238E27FC236}">
                <a16:creationId xmlns:a16="http://schemas.microsoft.com/office/drawing/2014/main" id="{2968AE4D-4797-CEAB-AE4F-05374FB4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  <p:pic>
        <p:nvPicPr>
          <p:cNvPr id="26629" name="Picture 3" descr="AI vs. data mining vs. machine learning vs. deep learning">
            <a:extLst>
              <a:ext uri="{FF2B5EF4-FFF2-40B4-BE49-F238E27FC236}">
                <a16:creationId xmlns:a16="http://schemas.microsoft.com/office/drawing/2014/main" id="{4CD19199-C6C7-49DB-181E-E69D0D9FB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2605088"/>
            <a:ext cx="4486275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4011-2220-8BA5-3CCF-CB5196A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</a:t>
            </a:r>
            <a:r>
              <a:rPr lang="en-GB" sz="3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vs. Deep Learning vs. AI vs. Data Science</a:t>
            </a:r>
          </a:p>
        </p:txBody>
      </p:sp>
      <p:pic>
        <p:nvPicPr>
          <p:cNvPr id="28675" name="Picture 15" descr="AI vs. data science vs. machine learning vs. deep learning vs. so on">
            <a:extLst>
              <a:ext uri="{FF2B5EF4-FFF2-40B4-BE49-F238E27FC236}">
                <a16:creationId xmlns:a16="http://schemas.microsoft.com/office/drawing/2014/main" id="{0D023E20-88C0-8804-6CC6-A413FE8F8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13" y="1404938"/>
            <a:ext cx="4598987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Footer Placeholder 4">
            <a:extLst>
              <a:ext uri="{FF2B5EF4-FFF2-40B4-BE49-F238E27FC236}">
                <a16:creationId xmlns:a16="http://schemas.microsoft.com/office/drawing/2014/main" id="{567D1F76-C01A-DB08-9D3C-E6CCD3788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  <p:pic>
        <p:nvPicPr>
          <p:cNvPr id="28677" name="Picture 3" descr="AI vs. machine learning vs. deep learning">
            <a:extLst>
              <a:ext uri="{FF2B5EF4-FFF2-40B4-BE49-F238E27FC236}">
                <a16:creationId xmlns:a16="http://schemas.microsoft.com/office/drawing/2014/main" id="{ED876CC2-32F3-92AE-4DA6-096F5F965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2241550"/>
            <a:ext cx="5435600" cy="305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7" name="Picture 7" descr="Data Science Tools Popularity, animated - KDnuggets">
            <a:extLst>
              <a:ext uri="{FF2B5EF4-FFF2-40B4-BE49-F238E27FC236}">
                <a16:creationId xmlns:a16="http://schemas.microsoft.com/office/drawing/2014/main" id="{172D95ED-8F29-A87A-2D70-114ED55EE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1412875"/>
            <a:ext cx="6400800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E014CD-C91E-6981-7D33-3B591E1B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Learning: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Datasets &amp; Software</a:t>
            </a:r>
          </a:p>
        </p:txBody>
      </p:sp>
      <p:sp>
        <p:nvSpPr>
          <p:cNvPr id="7" name="Rectangle 3" descr="machine learning software">
            <a:extLst>
              <a:ext uri="{FF2B5EF4-FFF2-40B4-BE49-F238E27FC236}">
                <a16:creationId xmlns:a16="http://schemas.microsoft.com/office/drawing/2014/main" id="{23A5CF7D-1288-776C-5C8B-05FCE97EC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875"/>
            <a:ext cx="10887075" cy="4392613"/>
          </a:xfrm>
        </p:spPr>
        <p:txBody>
          <a:bodyPr/>
          <a:lstStyle/>
          <a:p>
            <a:pPr marL="269875" indent="-269875" eaLnBrk="1" hangingPunct="1">
              <a:spcBef>
                <a:spcPct val="0"/>
              </a:spcBef>
              <a:defRPr/>
            </a:pPr>
            <a:r>
              <a:rPr lang="en-US" altLang="en-US" sz="2200" dirty="0">
                <a:hlinkClick r:id="rId4"/>
              </a:rPr>
              <a:t>UCI Machine Learning repository</a:t>
            </a:r>
            <a:endParaRPr lang="en-US" altLang="en-US" sz="2200" dirty="0"/>
          </a:p>
          <a:p>
            <a:pPr marL="269875" indent="-269875" eaLnBrk="1" hangingPunct="1">
              <a:spcBef>
                <a:spcPct val="0"/>
              </a:spcBef>
              <a:defRPr/>
            </a:pPr>
            <a:r>
              <a:rPr lang="en-US" altLang="en-US" sz="2200" dirty="0" err="1">
                <a:hlinkClick r:id="rId5"/>
              </a:rPr>
              <a:t>KDnugget</a:t>
            </a:r>
            <a:endParaRPr lang="en-US" altLang="en-US" sz="2200" dirty="0"/>
          </a:p>
          <a:p>
            <a:pPr marL="269875" indent="-269875" eaLnBrk="1" hangingPunct="1">
              <a:spcBef>
                <a:spcPct val="0"/>
              </a:spcBef>
              <a:defRPr/>
            </a:pPr>
            <a:r>
              <a:rPr lang="en-US" altLang="en-US" sz="2200" dirty="0">
                <a:hlinkClick r:id="rId6"/>
              </a:rPr>
              <a:t>Kaggle</a:t>
            </a:r>
            <a:r>
              <a:rPr lang="en-US" altLang="en-US" sz="2200" dirty="0"/>
              <a:t> (also some free courses on</a:t>
            </a:r>
            <a:br>
              <a:rPr lang="en-US" altLang="en-US" sz="2200" dirty="0"/>
            </a:br>
            <a:r>
              <a:rPr lang="en-US" altLang="en-US" sz="2200" dirty="0"/>
              <a:t>data science)</a:t>
            </a:r>
          </a:p>
          <a:p>
            <a:pPr marL="269875" indent="-269875" eaLnBrk="1" hangingPunct="1">
              <a:spcBef>
                <a:spcPct val="0"/>
              </a:spcBef>
              <a:defRPr/>
            </a:pPr>
            <a:endParaRPr lang="en-US" altLang="en-US" sz="2000" dirty="0"/>
          </a:p>
          <a:p>
            <a:pPr marL="269875" indent="-269875" eaLnBrk="1" hangingPunct="1">
              <a:spcBef>
                <a:spcPct val="0"/>
              </a:spcBef>
              <a:defRPr/>
            </a:pPr>
            <a:r>
              <a:rPr lang="en-US" altLang="en-US" sz="2200" dirty="0"/>
              <a:t>Python packages</a:t>
            </a:r>
          </a:p>
          <a:p>
            <a:pPr marL="446088" lvl="1" indent="-190500" eaLnBrk="1" hangingPunct="1">
              <a:spcBef>
                <a:spcPct val="0"/>
              </a:spcBef>
              <a:defRPr/>
            </a:pPr>
            <a:r>
              <a:rPr lang="en-US" altLang="en-US" sz="2000" dirty="0"/>
              <a:t>Data </a:t>
            </a:r>
            <a:r>
              <a:rPr lang="en-US" altLang="en-US" sz="2000" dirty="0">
                <a:solidFill>
                  <a:srgbClr val="0000CC"/>
                </a:solidFill>
              </a:rPr>
              <a:t>visualization</a:t>
            </a:r>
            <a:r>
              <a:rPr lang="en-US" altLang="en-US" sz="2000" dirty="0"/>
              <a:t>: </a:t>
            </a:r>
            <a:r>
              <a:rPr lang="en-US" altLang="en-US" sz="2000" dirty="0">
                <a:solidFill>
                  <a:srgbClr val="0000CC"/>
                </a:solidFill>
              </a:rPr>
              <a:t>Matplotlib</a:t>
            </a:r>
            <a:r>
              <a:rPr lang="en-US" altLang="en-US" sz="2000" dirty="0"/>
              <a:t>, Seaborn</a:t>
            </a:r>
          </a:p>
          <a:p>
            <a:pPr marL="446088" lvl="1" indent="-190500" eaLnBrk="1" hangingPunct="1">
              <a:spcBef>
                <a:spcPct val="0"/>
              </a:spcBef>
              <a:defRPr/>
            </a:pPr>
            <a:r>
              <a:rPr lang="en-US" altLang="en-US" sz="2000" dirty="0"/>
              <a:t>Data </a:t>
            </a:r>
            <a:r>
              <a:rPr lang="en-US" altLang="en-US" sz="2000" dirty="0">
                <a:solidFill>
                  <a:srgbClr val="0000CC"/>
                </a:solidFill>
              </a:rPr>
              <a:t>manipulation</a:t>
            </a:r>
            <a:r>
              <a:rPr lang="en-US" altLang="en-US" sz="2000" dirty="0"/>
              <a:t>: </a:t>
            </a:r>
            <a:r>
              <a:rPr lang="en-US" altLang="en-US" sz="2000" dirty="0">
                <a:solidFill>
                  <a:srgbClr val="0000CC"/>
                </a:solidFill>
              </a:rPr>
              <a:t>NumPy, Pandas</a:t>
            </a:r>
          </a:p>
          <a:p>
            <a:pPr marL="446088" lvl="1" indent="-190500" eaLnBrk="1" hangingPunct="1">
              <a:spcBef>
                <a:spcPct val="0"/>
              </a:spcBef>
              <a:defRPr/>
            </a:pPr>
            <a:r>
              <a:rPr lang="en-US" altLang="en-US" sz="2000" dirty="0">
                <a:solidFill>
                  <a:srgbClr val="0000CC"/>
                </a:solidFill>
              </a:rPr>
              <a:t>Machine learning</a:t>
            </a:r>
            <a:r>
              <a:rPr lang="en-US" altLang="en-US" sz="2000" dirty="0"/>
              <a:t>: </a:t>
            </a:r>
            <a:r>
              <a:rPr lang="en-US" altLang="en-US" sz="2000" dirty="0">
                <a:solidFill>
                  <a:srgbClr val="0000CC"/>
                </a:solidFill>
              </a:rPr>
              <a:t>Scikit-learn</a:t>
            </a:r>
          </a:p>
          <a:p>
            <a:pPr marL="446088" lvl="1" indent="-190500" eaLnBrk="1" hangingPunct="1">
              <a:spcBef>
                <a:spcPct val="0"/>
              </a:spcBef>
              <a:defRPr/>
            </a:pPr>
            <a:r>
              <a:rPr lang="en-US" altLang="en-US" sz="2000" dirty="0"/>
              <a:t>Deep learning: TensorFlow, </a:t>
            </a:r>
            <a:r>
              <a:rPr lang="en-US" altLang="en-US" sz="2000" dirty="0" err="1"/>
              <a:t>Keras</a:t>
            </a:r>
            <a:r>
              <a:rPr lang="en-US" altLang="en-US" sz="2000" dirty="0"/>
              <a:t>,</a:t>
            </a:r>
            <a:br>
              <a:rPr lang="en-US" altLang="en-US" sz="2000" dirty="0"/>
            </a:br>
            <a:r>
              <a:rPr lang="en-US" altLang="en-US" sz="2000" dirty="0" err="1"/>
              <a:t>PyTorch</a:t>
            </a:r>
            <a:endParaRPr lang="en-US" altLang="en-US" sz="2000" dirty="0"/>
          </a:p>
          <a:p>
            <a:pPr marL="446088" lvl="1" indent="-190500" eaLnBrk="1" hangingPunct="1">
              <a:spcBef>
                <a:spcPct val="0"/>
              </a:spcBef>
              <a:defRPr/>
            </a:pPr>
            <a:endParaRPr lang="en-US" altLang="en-US" sz="2000" dirty="0"/>
          </a:p>
          <a:p>
            <a:pPr marL="190500" indent="-190500" eaLnBrk="1" hangingPunct="1">
              <a:spcBef>
                <a:spcPct val="0"/>
              </a:spcBef>
              <a:defRPr/>
            </a:pPr>
            <a:r>
              <a:rPr lang="en-US" altLang="en-US" sz="2200" dirty="0">
                <a:solidFill>
                  <a:srgbClr val="0000CC"/>
                </a:solidFill>
              </a:rPr>
              <a:t>Computing session 0</a:t>
            </a:r>
          </a:p>
        </p:txBody>
      </p:sp>
      <p:sp>
        <p:nvSpPr>
          <p:cNvPr id="30725" name="Footer Placeholder 4">
            <a:extLst>
              <a:ext uri="{FF2B5EF4-FFF2-40B4-BE49-F238E27FC236}">
                <a16:creationId xmlns:a16="http://schemas.microsoft.com/office/drawing/2014/main" id="{9BABC45D-191D-9352-D0DA-479161C38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7427913" y="6237288"/>
            <a:ext cx="439261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t>COMP1008 – Machine Learning	Introduction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4A525AFF-2060-E33E-E1FC-6C7F5843A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850563" cy="46355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Intro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Un-supervised vs. Supervised learning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III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learning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Machine learning IV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ANN &amp; extension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Thursday: </a:t>
            </a:r>
            <a:r>
              <a:rPr lang="en-US" altLang="en-US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session 0</a:t>
            </a:r>
          </a:p>
          <a:p>
            <a:pPr lvl="1"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Notebook with Anaconda</a:t>
            </a:r>
          </a:p>
          <a:p>
            <a:pPr lvl="1"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Python basics</a:t>
            </a:r>
          </a:p>
          <a:p>
            <a:pPr lvl="1"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Font typeface="Symbol" panose="05050102010706020507" pitchFamily="18" charset="2"/>
              <a:buChar char="·"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6360AE5-A23C-6F07-CB93-34B50C3B6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3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Next Week</a:t>
            </a:r>
            <a:endParaRPr lang="en-US" i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ustom 1">
      <a:majorFont>
        <a:latin typeface="Impact"/>
        <a:ea typeface=""/>
        <a:cs typeface=""/>
      </a:majorFont>
      <a:minorFont>
        <a:latin typeface="Tahoma"/>
        <a:ea typeface="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37147</TotalTime>
  <Words>664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Book Antiqua</vt:lpstr>
      <vt:lpstr>Impact</vt:lpstr>
      <vt:lpstr>Lucida Sans Unicode</vt:lpstr>
      <vt:lpstr>Symbol</vt:lpstr>
      <vt:lpstr>Tahoma</vt:lpstr>
      <vt:lpstr>Times New Roman</vt:lpstr>
      <vt:lpstr>Verdana</vt:lpstr>
      <vt:lpstr>Wingdings 2</vt:lpstr>
      <vt:lpstr>Wingdings 3</vt:lpstr>
      <vt:lpstr>Concourse</vt:lpstr>
      <vt:lpstr>COMP1008 Part II: Machine Learning</vt:lpstr>
      <vt:lpstr>PowerPoint Presentation</vt:lpstr>
      <vt:lpstr>Machine Learning: Definition</vt:lpstr>
      <vt:lpstr>Machine Learning: To reach true AI</vt:lpstr>
      <vt:lpstr>Machine Learning: Three pillars</vt:lpstr>
      <vt:lpstr>Machine Learning: Three pillars</vt:lpstr>
      <vt:lpstr>Machine Learning vs. Traditional Programs</vt:lpstr>
      <vt:lpstr>Machine Learning vs. Data Mining</vt:lpstr>
      <vt:lpstr>Machine Learning vs. Deep Learning vs. AI vs. Data Science</vt:lpstr>
      <vt:lpstr>Machine Learning: Datasets &amp; Software</vt:lpstr>
      <vt:lpstr>Next Week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Construction</dc:title>
  <dc:creator>Johannes Gehrke</dc:creator>
  <cp:lastModifiedBy>Rong Qu (staff)</cp:lastModifiedBy>
  <cp:revision>1012</cp:revision>
  <dcterms:created xsi:type="dcterms:W3CDTF">2000-02-20T19:15:31Z</dcterms:created>
  <dcterms:modified xsi:type="dcterms:W3CDTF">2026-01-26T15:00:42Z</dcterms:modified>
</cp:coreProperties>
</file>